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50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401" r:id="rId29"/>
    <p:sldId id="332" r:id="rId30"/>
    <p:sldId id="351" r:id="rId31"/>
    <p:sldId id="352" r:id="rId32"/>
    <p:sldId id="353" r:id="rId33"/>
    <p:sldId id="354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82" r:id="rId51"/>
    <p:sldId id="383" r:id="rId52"/>
    <p:sldId id="384" r:id="rId53"/>
    <p:sldId id="385" r:id="rId54"/>
    <p:sldId id="400" r:id="rId55"/>
    <p:sldId id="386" r:id="rId56"/>
    <p:sldId id="387" r:id="rId57"/>
    <p:sldId id="388" r:id="rId58"/>
    <p:sldId id="389" r:id="rId59"/>
    <p:sldId id="390" r:id="rId60"/>
    <p:sldId id="391" r:id="rId61"/>
    <p:sldId id="392" r:id="rId62"/>
    <p:sldId id="393" r:id="rId63"/>
    <p:sldId id="394" r:id="rId64"/>
    <p:sldId id="395" r:id="rId65"/>
    <p:sldId id="396" r:id="rId66"/>
    <p:sldId id="397" r:id="rId67"/>
    <p:sldId id="398" r:id="rId68"/>
    <p:sldId id="399" r:id="rId69"/>
    <p:sldId id="333" r:id="rId70"/>
    <p:sldId id="355" r:id="rId71"/>
    <p:sldId id="356" r:id="rId72"/>
    <p:sldId id="357" r:id="rId73"/>
    <p:sldId id="358" r:id="rId74"/>
    <p:sldId id="359" r:id="rId75"/>
    <p:sldId id="360" r:id="rId76"/>
    <p:sldId id="361" r:id="rId77"/>
    <p:sldId id="362" r:id="rId78"/>
    <p:sldId id="363" r:id="rId79"/>
    <p:sldId id="364" r:id="rId80"/>
    <p:sldId id="365" r:id="rId81"/>
    <p:sldId id="366" r:id="rId82"/>
    <p:sldId id="367" r:id="rId83"/>
    <p:sldId id="368" r:id="rId84"/>
    <p:sldId id="369" r:id="rId85"/>
    <p:sldId id="370" r:id="rId86"/>
    <p:sldId id="371" r:id="rId87"/>
    <p:sldId id="372" r:id="rId88"/>
    <p:sldId id="373" r:id="rId89"/>
    <p:sldId id="374" r:id="rId90"/>
    <p:sldId id="375" r:id="rId91"/>
    <p:sldId id="376" r:id="rId92"/>
    <p:sldId id="377" r:id="rId93"/>
    <p:sldId id="378" r:id="rId94"/>
    <p:sldId id="379" r:id="rId95"/>
    <p:sldId id="380" r:id="rId96"/>
    <p:sldId id="381" r:id="rId9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410A"/>
    <a:srgbClr val="EAC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1" autoAdjust="0"/>
    <p:restoredTop sz="94619" autoAdjust="0"/>
  </p:normalViewPr>
  <p:slideViewPr>
    <p:cSldViewPr snapToGrid="0">
      <p:cViewPr varScale="1">
        <p:scale>
          <a:sx n="114" d="100"/>
          <a:sy n="114" d="100"/>
        </p:scale>
        <p:origin x="7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78E9F1-78CB-3C09-8784-F102EF3416D1}"/>
              </a:ext>
            </a:extLst>
          </p:cNvPr>
          <p:cNvSpPr/>
          <p:nvPr/>
        </p:nvSpPr>
        <p:spPr>
          <a:xfrm>
            <a:off x="684336" y="4098875"/>
            <a:ext cx="11112500" cy="800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FE400-464F-B185-4F6D-3EC2ABCD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14" y="326643"/>
            <a:ext cx="9168171" cy="6112114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54CF3C40-8FA6-186E-4746-A85C6D68800F}"/>
              </a:ext>
            </a:extLst>
          </p:cNvPr>
          <p:cNvSpPr txBox="1">
            <a:spLocks/>
          </p:cNvSpPr>
          <p:nvPr/>
        </p:nvSpPr>
        <p:spPr>
          <a:xfrm>
            <a:off x="3014149" y="5815520"/>
            <a:ext cx="6989748" cy="446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 dirty="0">
                <a:solidFill>
                  <a:srgbClr val="52410A"/>
                </a:solidFill>
                <a:latin typeface="Arial Black" panose="020B0A04020102020204" pitchFamily="34" charset="0"/>
              </a:rPr>
              <a:t>Harmeet Singh Sehra</a:t>
            </a: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FE80ED-1393-E782-06BA-FF2E4DDC8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0874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Table of Content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4B522-58FA-4C02-439C-7A48D4EC2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D3B8C-64EA-1623-7D30-08A173FB2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2668"/>
            <a:ext cx="12192000" cy="44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2F29-02F5-7DD7-D2F0-66759239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Day 01’s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A35D6-A411-4285-8147-24D2E9C2B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374" y="2050197"/>
            <a:ext cx="3358119" cy="3760891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b="1" dirty="0"/>
              <a:t>Module 1 – Migration Overview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Why companies migrate from Tableau to Power BI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Migration scenarios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When migration is needed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Challenges in migration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Discussion: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Enterprise BI standardization</a:t>
            </a: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Licensing &amp; ecosystem considerations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3A58BA-5E61-7F96-9461-66BB09631D0B}"/>
              </a:ext>
            </a:extLst>
          </p:cNvPr>
          <p:cNvSpPr txBox="1">
            <a:spLocks/>
          </p:cNvSpPr>
          <p:nvPr/>
        </p:nvSpPr>
        <p:spPr>
          <a:xfrm>
            <a:off x="8432323" y="2050196"/>
            <a:ext cx="3644303" cy="376089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</a:rPr>
              <a:t>Module 3 – Architecture Comparison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Topics: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Tableau Server vs Power BI Service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Tableau Extract vs Power BI Import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bg1"/>
                </a:solidFill>
              </a:rPr>
              <a:t>DirectQuery</a:t>
            </a:r>
            <a:r>
              <a:rPr lang="en-US" sz="1800" dirty="0">
                <a:solidFill>
                  <a:schemeClr val="bg1"/>
                </a:solidFill>
              </a:rPr>
              <a:t> vs Live Connection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Data connectivity comparison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Deployment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6296B-1F37-C771-3890-1594E3F63FCF}"/>
              </a:ext>
            </a:extLst>
          </p:cNvPr>
          <p:cNvSpPr txBox="1"/>
          <p:nvPr/>
        </p:nvSpPr>
        <p:spPr>
          <a:xfrm>
            <a:off x="4044968" y="2329286"/>
            <a:ext cx="3766786" cy="389850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Module 2 – Tableau Fundamentals for Power BI Users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Since learners know Power BI, they must first understand Tableau concepts.</a:t>
            </a:r>
          </a:p>
          <a:p>
            <a:pPr marL="0" marR="0"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Topics: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Tableau Concept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Worksheet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Story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Extract</a:t>
            </a:r>
          </a:p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Tableau Server</a:t>
            </a:r>
          </a:p>
          <a:p>
            <a:pPr marL="0" marR="0"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84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4C83-41DD-5DCF-F964-33884A6B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Migration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32E15-F337-6789-E546-765F64B00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099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9E074-A163-1108-680F-1099FE9B7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Module 1 – Migration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03F07-F397-D058-BB58-745A15887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1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C622-14D4-9EC7-0A4E-8A01DE5C2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C877-4CC6-4DF6-51D4-B7C1108F0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Migration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135CE-58AD-BE7C-2AF7-998C7622D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In recent years, many organizations are evaluating their </a:t>
            </a:r>
            <a:r>
              <a:rPr lang="en-US" b="1" dirty="0"/>
              <a:t>Business Intelligence (BI) platforms</a:t>
            </a:r>
            <a:r>
              <a:rPr lang="en-US" dirty="0"/>
              <a:t> to ensure better scalability, cost efficiency, and integration with modern data ecosystems.</a:t>
            </a:r>
          </a:p>
          <a:p>
            <a:pPr algn="just"/>
            <a:r>
              <a:rPr lang="en-US" dirty="0"/>
              <a:t>Two of the most widely used BI platforms are: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Tableau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Power BI</a:t>
            </a:r>
          </a:p>
          <a:p>
            <a:pPr algn="just"/>
            <a:r>
              <a:rPr lang="en-US" dirty="0"/>
              <a:t>While both are powerful visualization tools, organizations often decide to </a:t>
            </a:r>
            <a:r>
              <a:rPr lang="en-US" b="1" dirty="0"/>
              <a:t>standardize on one platform</a:t>
            </a:r>
            <a:r>
              <a:rPr lang="en-US" dirty="0"/>
              <a:t>, leading to migration initiatives.</a:t>
            </a:r>
          </a:p>
          <a:p>
            <a:pPr algn="just"/>
            <a:r>
              <a:rPr lang="en-US" dirty="0"/>
              <a:t>This module introduces the </a:t>
            </a:r>
            <a:r>
              <a:rPr lang="en-US" b="1" dirty="0"/>
              <a:t>concept, reasons, and challenges of migrating dashboards from Tableau to Power BI.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00C78-8600-0281-8472-2138E18723F8}"/>
              </a:ext>
            </a:extLst>
          </p:cNvPr>
          <p:cNvSpPr txBox="1"/>
          <p:nvPr/>
        </p:nvSpPr>
        <p:spPr>
          <a:xfrm>
            <a:off x="2821446" y="5807611"/>
            <a:ext cx="609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rgbClr val="00B050"/>
                </a:solidFill>
              </a:rPr>
              <a:t>Migration does </a:t>
            </a:r>
            <a:r>
              <a:rPr lang="en-US" b="1" dirty="0">
                <a:solidFill>
                  <a:srgbClr val="00B050"/>
                </a:solidFill>
              </a:rPr>
              <a:t>not simply mean exporting files</a:t>
            </a:r>
            <a:r>
              <a:rPr lang="en-US" dirty="0">
                <a:solidFill>
                  <a:srgbClr val="00B050"/>
                </a:solidFill>
              </a:rPr>
              <a:t>, but involves </a:t>
            </a:r>
            <a:r>
              <a:rPr lang="en-US" b="1" dirty="0">
                <a:solidFill>
                  <a:srgbClr val="00B050"/>
                </a:solidFill>
              </a:rPr>
              <a:t>rebuilding analytics solutions in the new platform</a:t>
            </a:r>
            <a:r>
              <a:rPr lang="en-US" dirty="0">
                <a:solidFill>
                  <a:srgbClr val="00B0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63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5D0E-29BF-F629-19F3-9777D5A4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BI Platform Migration?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FA3F0-53CC-33CB-2116-F8BA986CB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1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8FCD4-7F24-5420-FF42-0BC378AB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Intelligence Migration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B10B3-C4F0-ECF2-3201-A743FB249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BI Migration refers to the process of: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Moving dashboards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Rebuilding reports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Migrating data models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Converting calculations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Recreating visualizations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from one BI platform to another.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117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0F59F-6747-C9AE-8628-00C3790DA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4AC3C-FE6E-9408-0237-8379D1E9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Organizations Use BI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E0E90-29F7-43BD-B880-28A03275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 tools help organizations:</a:t>
            </a:r>
          </a:p>
          <a:p>
            <a:r>
              <a:rPr lang="en-US" dirty="0"/>
              <a:t>• Analyze business data</a:t>
            </a:r>
            <a:br>
              <a:rPr lang="en-US" dirty="0"/>
            </a:br>
            <a:r>
              <a:rPr lang="en-US" dirty="0"/>
              <a:t>• Create interactive dashboards</a:t>
            </a:r>
            <a:br>
              <a:rPr lang="en-US" dirty="0"/>
            </a:br>
            <a:r>
              <a:rPr lang="en-US" dirty="0"/>
              <a:t>• Track KPIs</a:t>
            </a:r>
            <a:br>
              <a:rPr lang="en-US" dirty="0"/>
            </a:br>
            <a:r>
              <a:rPr lang="en-US" dirty="0"/>
              <a:t>• Monitor performance</a:t>
            </a:r>
            <a:br>
              <a:rPr lang="en-US" dirty="0"/>
            </a:br>
            <a:r>
              <a:rPr lang="en-US" dirty="0"/>
              <a:t>• Support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7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1844-FEB3-2163-6651-5944BBF3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7CF9-FEA1-AE04-DFD3-167B173CE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Companies Migrate from Tableau to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436F2-B845-CEC5-C9E8-E125EFDD1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migrate for several strategic reasons.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55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E099-C0B1-CB45-F3B3-F6AD236D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D0AD-3D75-F905-EADF-9BC3E0D3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B0DAA-ED8F-C9BF-43B4-5B5D40B15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1 Cost Optimization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Power BI licensing is often </a:t>
            </a:r>
            <a:r>
              <a:rPr lang="en-US" b="1" dirty="0"/>
              <a:t>more cost-effective</a:t>
            </a:r>
            <a:r>
              <a:rPr lang="en-US" dirty="0"/>
              <a:t>, especially for organizations already using </a:t>
            </a:r>
            <a:r>
              <a:rPr lang="en-US" b="1" dirty="0"/>
              <a:t>Microsoft tools.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2 Microsoft Ecosystem Integration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Power BI integrates seamlessly with: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Excel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Azure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Microsoft 365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Teams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SharePoint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3 Unified Analytics Platform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Many enterprises prefer a </a:t>
            </a:r>
            <a:r>
              <a:rPr lang="en-US" b="1" dirty="0"/>
              <a:t>single platform</a:t>
            </a:r>
            <a:r>
              <a:rPr lang="en-US" dirty="0"/>
              <a:t> for data analytics and reporting.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4 Self-Service Analytics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Power BI enables broader adoption among business users.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32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D060-6020-F516-D8B2-2F7A13B7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3F68-2ADE-562A-31EB-12DD98D04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Business Drivers for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981B0-2E9F-7954-5CA8-9398A7566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drivers behind migration initiatives include:</a:t>
            </a:r>
          </a:p>
          <a:p>
            <a:r>
              <a:rPr lang="en-US" dirty="0"/>
              <a:t>• Reducing BI licensing costs</a:t>
            </a:r>
            <a:br>
              <a:rPr lang="en-US" dirty="0"/>
            </a:br>
            <a:r>
              <a:rPr lang="en-US" dirty="0"/>
              <a:t>• Consolidating analytics platforms</a:t>
            </a:r>
            <a:br>
              <a:rPr lang="en-US" dirty="0"/>
            </a:br>
            <a:r>
              <a:rPr lang="en-US" dirty="0"/>
              <a:t>• Standardizing reporting tools across departments</a:t>
            </a:r>
            <a:br>
              <a:rPr lang="en-US" dirty="0"/>
            </a:br>
            <a:r>
              <a:rPr lang="en-US" dirty="0"/>
              <a:t>• Leveraging Microsoft cloud ecosystem</a:t>
            </a:r>
            <a:br>
              <a:rPr lang="en-US" dirty="0"/>
            </a:br>
            <a:r>
              <a:rPr lang="en-US" dirty="0"/>
              <a:t>• Improving collaboration and sharing</a:t>
            </a:r>
            <a:br>
              <a:rPr lang="en-US" dirty="0"/>
            </a:br>
            <a:r>
              <a:rPr lang="en-US" dirty="0"/>
              <a:t>• Better integration with enterprise data platforms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344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BF4D-AEC3-C244-67DF-6FB7791B9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66DA-0B98-D2FA-38A8-B8044B169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Migration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3FE20-D2D1-0F58-D5E3-DE7478A2C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typically follow different migration approaches.</a:t>
            </a:r>
          </a:p>
          <a:p>
            <a:r>
              <a:rPr lang="en-US" b="1" dirty="0"/>
              <a:t>Scenario 1 – Full Migration</a:t>
            </a:r>
          </a:p>
          <a:p>
            <a:r>
              <a:rPr lang="en-US" b="1" dirty="0"/>
              <a:t>Scenario 2 – Partial Migration</a:t>
            </a:r>
          </a:p>
          <a:p>
            <a:r>
              <a:rPr lang="en-US" b="1" dirty="0"/>
              <a:t>Scenario 3 – Gradual Migration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150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DC6F-23DD-DBEC-E623-98E7B706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9604-30DE-96DA-1F51-03939102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 1 – </a:t>
            </a:r>
            <a:r>
              <a:rPr lang="en-US" b="1"/>
              <a:t>Full Migration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FEB72-0178-FE75-F59B-5A7FAB86C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dashboards and reports are migrated to Power BI.</a:t>
            </a:r>
          </a:p>
          <a:p>
            <a:r>
              <a:rPr lang="en-US" dirty="0"/>
              <a:t>Used when organizations standardize on a single BI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043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83C4-8ECD-EE82-A34D-CEEC7A15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40E38-8F11-40FE-54FC-8E1FF8D84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 2 – Partial Migration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96970-14AA-B17A-FC5B-5DD2C71BC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selected dashboards are migrated.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Operational dashboards → Power BI</a:t>
            </a:r>
          </a:p>
          <a:p>
            <a:r>
              <a:rPr lang="en-US" dirty="0"/>
              <a:t>Advanced analytics → Tableau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38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1B380-C136-B653-FBD7-6A5F7BC0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1E5C-5A27-5B76-CA8C-F974697C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Scenario 3 – Gradual Migration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D9EF8-8E4F-F768-08DC-F4699E3ED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Migration happens in phases over several months.</a:t>
            </a:r>
          </a:p>
          <a:p>
            <a:r>
              <a:rPr lang="en-US" dirty="0"/>
              <a:t>Existing dashboards continue running while new ones are built in Power BI.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57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56FD-8321-1BA7-95D9-B67FDCAD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54DD-43E1-6C02-CCC5-1F98FC41C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Migration is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241A-0BF8-C278-7603-A83C0ACB9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Migration may become necessary when organizations experience:</a:t>
            </a:r>
          </a:p>
          <a:p>
            <a:r>
              <a:rPr lang="en-US" b="1" dirty="0"/>
              <a:t>Tool Consolidation</a:t>
            </a:r>
          </a:p>
          <a:p>
            <a:r>
              <a:rPr lang="en-US" dirty="0"/>
              <a:t>Multiple BI tools increase complexity.</a:t>
            </a:r>
          </a:p>
          <a:p>
            <a:r>
              <a:rPr lang="en-US" b="1" dirty="0"/>
              <a:t>Cost Management</a:t>
            </a:r>
          </a:p>
          <a:p>
            <a:r>
              <a:rPr lang="en-US" dirty="0"/>
              <a:t>Organizations want to reduce tool licensing costs.</a:t>
            </a:r>
          </a:p>
          <a:p>
            <a:r>
              <a:rPr lang="en-US" b="1" dirty="0"/>
              <a:t>Technology Alignment</a:t>
            </a:r>
          </a:p>
          <a:p>
            <a:r>
              <a:rPr lang="en-US" dirty="0"/>
              <a:t>Organizations align analytics with </a:t>
            </a:r>
            <a:r>
              <a:rPr lang="en-US" b="1" dirty="0"/>
              <a:t>cloud strategy or Microsoft ecosystem</a:t>
            </a:r>
            <a:r>
              <a:rPr lang="en-US" dirty="0"/>
              <a:t>.</a:t>
            </a:r>
          </a:p>
          <a:p>
            <a:r>
              <a:rPr lang="en-US" b="1" dirty="0"/>
              <a:t>Skill Availability</a:t>
            </a:r>
          </a:p>
          <a:p>
            <a:r>
              <a:rPr lang="en-US" dirty="0"/>
              <a:t>Power BI skills are widely available compared to specialized tools.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205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6EFD-4B3B-A2BC-1A8B-AA24D8BD0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D829-AF2C-B567-4C70-D3164700D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Gets Migrated?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44B21-B256-C751-1961-71E6DD087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1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7CE60-C800-35A3-3AA6-8ADC94BB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EF6A-F9D7-BCF6-3D18-4371C9124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80393-7D50-615E-32FA-94C23604E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migration projects, the following components must be addressed:</a:t>
            </a:r>
          </a:p>
          <a:p>
            <a:r>
              <a:rPr lang="en-US" dirty="0"/>
              <a:t>• Data sources</a:t>
            </a:r>
            <a:br>
              <a:rPr lang="en-US" dirty="0"/>
            </a:br>
            <a:r>
              <a:rPr lang="en-US" dirty="0"/>
              <a:t>• Data models</a:t>
            </a:r>
            <a:br>
              <a:rPr lang="en-US" dirty="0"/>
            </a:br>
            <a:r>
              <a:rPr lang="en-US" dirty="0"/>
              <a:t>• Calculated fields</a:t>
            </a:r>
            <a:br>
              <a:rPr lang="en-US" dirty="0"/>
            </a:br>
            <a:r>
              <a:rPr lang="en-US" dirty="0"/>
              <a:t>• Dashboard layouts</a:t>
            </a:r>
            <a:br>
              <a:rPr lang="en-US" dirty="0"/>
            </a:br>
            <a:r>
              <a:rPr lang="en-US" dirty="0"/>
              <a:t>• Visualizations</a:t>
            </a:r>
            <a:br>
              <a:rPr lang="en-US" dirty="0"/>
            </a:br>
            <a:r>
              <a:rPr lang="en-US" dirty="0"/>
              <a:t>• Filters and interactions</a:t>
            </a:r>
            <a:br>
              <a:rPr lang="en-US" dirty="0"/>
            </a:br>
            <a:r>
              <a:rPr lang="en-US" dirty="0"/>
              <a:t>• Scheduled refresh processes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BE84C-C656-440D-B7E9-A3EBAB7E2D38}"/>
              </a:ext>
            </a:extLst>
          </p:cNvPr>
          <p:cNvSpPr txBox="1"/>
          <p:nvPr/>
        </p:nvSpPr>
        <p:spPr>
          <a:xfrm>
            <a:off x="6861068" y="5120641"/>
            <a:ext cx="5187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dirty="0"/>
              <a:t>Migration involves </a:t>
            </a:r>
            <a:r>
              <a:rPr lang="en-US" b="1" dirty="0"/>
              <a:t>rebuilding analytics logic in the new platform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9483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E8BC-936F-D642-0559-673D178C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331C-3A40-368F-3FD5-CABAF1BE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Process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A15B0-C02E-48C1-50EF-6038F63DD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migration workflow:</a:t>
            </a:r>
          </a:p>
          <a:p>
            <a:pPr lvl="1"/>
            <a:r>
              <a:rPr lang="en-US" dirty="0"/>
              <a:t>Inventory existing Tableau assets</a:t>
            </a:r>
          </a:p>
          <a:p>
            <a:pPr lvl="1"/>
            <a:r>
              <a:rPr lang="en-US" dirty="0"/>
              <a:t>Analyze data sources and calculations</a:t>
            </a:r>
          </a:p>
          <a:p>
            <a:pPr lvl="1"/>
            <a:r>
              <a:rPr lang="en-US" dirty="0"/>
              <a:t>Rebuild data model in Power BI</a:t>
            </a:r>
          </a:p>
          <a:p>
            <a:pPr lvl="1"/>
            <a:r>
              <a:rPr lang="en-US" dirty="0"/>
              <a:t>Convert calculations to DAX</a:t>
            </a:r>
          </a:p>
          <a:p>
            <a:pPr lvl="1"/>
            <a:r>
              <a:rPr lang="en-US" dirty="0"/>
              <a:t>Recreate dashboards</a:t>
            </a:r>
          </a:p>
          <a:p>
            <a:pPr lvl="1"/>
            <a:r>
              <a:rPr lang="en-US" dirty="0"/>
              <a:t>Validate results</a:t>
            </a:r>
          </a:p>
          <a:p>
            <a:pPr lvl="1"/>
            <a:r>
              <a:rPr lang="en-US" dirty="0"/>
              <a:t>Deploy reports</a:t>
            </a:r>
          </a:p>
          <a:p>
            <a:r>
              <a:rPr lang="en-US" dirty="0"/>
              <a:t>This process ensures </a:t>
            </a:r>
            <a:r>
              <a:rPr lang="en-US" b="1" dirty="0"/>
              <a:t>data accuracy and functional equivalence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990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09E59-9B1C-6690-6C17-2A644CAA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3875-2375-80B3-96EC-28A0604D1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AE-1DA6-5AA0-CFBD-1EDC2967D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03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3AF4-EBD8-8840-72F7-B1EC6BC9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0FFC1-5D17-4D91-7DD5-52B675B6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B2F92-AE8A-59AE-F5E9-A67A76236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Migration projects involve several challenges.</a:t>
            </a:r>
          </a:p>
          <a:p>
            <a:r>
              <a:rPr lang="en-US" b="1" dirty="0"/>
              <a:t>Calculation Conversion</a:t>
            </a:r>
          </a:p>
          <a:p>
            <a:pPr lvl="1"/>
            <a:r>
              <a:rPr lang="en-US" dirty="0"/>
              <a:t>Tableau formulas must be rewritten in DAX.</a:t>
            </a:r>
          </a:p>
          <a:p>
            <a:r>
              <a:rPr lang="en-US" b="1" dirty="0"/>
              <a:t>Dashboard Redesign</a:t>
            </a:r>
          </a:p>
          <a:p>
            <a:pPr lvl="1"/>
            <a:r>
              <a:rPr lang="en-US" dirty="0"/>
              <a:t>Layouts and visual behaviors differ between tools.</a:t>
            </a:r>
          </a:p>
          <a:p>
            <a:r>
              <a:rPr lang="en-US" b="1" dirty="0"/>
              <a:t>Performance Optimization</a:t>
            </a:r>
          </a:p>
          <a:p>
            <a:pPr lvl="1"/>
            <a:r>
              <a:rPr lang="en-US" dirty="0"/>
              <a:t>Different data engines require model adjustments.</a:t>
            </a:r>
          </a:p>
          <a:p>
            <a:r>
              <a:rPr lang="en-US" b="1" dirty="0"/>
              <a:t>User Adoption</a:t>
            </a:r>
          </a:p>
          <a:p>
            <a:pPr lvl="1"/>
            <a:r>
              <a:rPr lang="en-US" dirty="0"/>
              <a:t>Users must adapt to a new interface and workflow.</a:t>
            </a:r>
          </a:p>
        </p:txBody>
      </p:sp>
    </p:spTree>
    <p:extLst>
      <p:ext uri="{BB962C8B-B14F-4D97-AF65-F5344CB8AC3E}">
        <p14:creationId xmlns:p14="http://schemas.microsoft.com/office/powerpoint/2010/main" val="2763988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A7D52-83D6-92C3-6410-8F6DDD77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36F66-F17A-3428-38F0-371CC200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is Not a File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4D889-50A7-53BC-02A3-3368D95FA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concept for learners:</a:t>
            </a:r>
          </a:p>
          <a:p>
            <a:r>
              <a:rPr lang="en-US" dirty="0"/>
              <a:t>Tableau files </a:t>
            </a:r>
            <a:r>
              <a:rPr lang="en-US" b="1" dirty="0"/>
              <a:t>cannot be directly opened in Power BI</a:t>
            </a:r>
            <a:r>
              <a:rPr lang="en-US" dirty="0"/>
              <a:t>.</a:t>
            </a:r>
          </a:p>
          <a:p>
            <a:r>
              <a:rPr lang="en-US" dirty="0"/>
              <a:t>Instead, migration involves:</a:t>
            </a:r>
          </a:p>
          <a:p>
            <a:pPr lvl="1"/>
            <a:r>
              <a:rPr lang="en-US" dirty="0"/>
              <a:t>Reconnecting to data sources</a:t>
            </a:r>
          </a:p>
          <a:p>
            <a:pPr lvl="1"/>
            <a:r>
              <a:rPr lang="en-US" dirty="0"/>
              <a:t>Recreating data models</a:t>
            </a:r>
          </a:p>
          <a:p>
            <a:pPr lvl="1"/>
            <a:r>
              <a:rPr lang="en-US" dirty="0"/>
              <a:t>Rebuilding dashboards</a:t>
            </a:r>
          </a:p>
          <a:p>
            <a:r>
              <a:rPr lang="en-US" dirty="0"/>
              <a:t>Therefore, migration is often treated as a </a:t>
            </a:r>
            <a:r>
              <a:rPr lang="en-US" b="1" dirty="0"/>
              <a:t>re-engineering exercise rather than simple conversion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14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F27D-5721-109C-EDDC-028C5B9FE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A026-2561-6FB4-CB4B-72FD3FFE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After Migration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46BE7-79C0-AD7B-DE7E-4212E259A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often gain:</a:t>
            </a:r>
          </a:p>
          <a:p>
            <a:r>
              <a:rPr lang="en-US" dirty="0"/>
              <a:t>• Reduced BI costs</a:t>
            </a:r>
            <a:br>
              <a:rPr lang="en-US" dirty="0"/>
            </a:br>
            <a:r>
              <a:rPr lang="en-US" dirty="0"/>
              <a:t>• Better integration with Microsoft tools</a:t>
            </a:r>
            <a:br>
              <a:rPr lang="en-US" dirty="0"/>
            </a:br>
            <a:r>
              <a:rPr lang="en-US" dirty="0"/>
              <a:t>• Improved collaboration</a:t>
            </a:r>
            <a:br>
              <a:rPr lang="en-US" dirty="0"/>
            </a:br>
            <a:r>
              <a:rPr lang="en-US" dirty="0"/>
              <a:t>• Centralized reporting environment</a:t>
            </a:r>
            <a:br>
              <a:rPr lang="en-US" dirty="0"/>
            </a:br>
            <a:r>
              <a:rPr lang="en-US" dirty="0"/>
              <a:t>• Scalable cloud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50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4AC1-197D-F395-A3E5-38B530E9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0DA5-EA01-3583-B870-F21AD830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Module 2 – Tableau Fundamentals for Power BI Users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59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F273-BB5F-5195-6B03-BDE88C30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91715-2F14-16C5-6A21-EDD2B3CF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Module 2 – Tableau Fundamentals for Power BI Users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CC0B7-F1EC-BD25-4A82-B75E3693B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learners know Power BI, they must first understand Tableau concepts.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D541E4-84AD-1BDB-46B8-9ED70F954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31867"/>
              </p:ext>
            </p:extLst>
          </p:nvPr>
        </p:nvGraphicFramePr>
        <p:xfrm>
          <a:off x="2730500" y="3136900"/>
          <a:ext cx="6470650" cy="2732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5325">
                  <a:extLst>
                    <a:ext uri="{9D8B030D-6E8A-4147-A177-3AD203B41FA5}">
                      <a16:colId xmlns:a16="http://schemas.microsoft.com/office/drawing/2014/main" val="3992539264"/>
                    </a:ext>
                  </a:extLst>
                </a:gridCol>
                <a:gridCol w="3235325">
                  <a:extLst>
                    <a:ext uri="{9D8B030D-6E8A-4147-A177-3AD203B41FA5}">
                      <a16:colId xmlns:a16="http://schemas.microsoft.com/office/drawing/2014/main" val="3133268700"/>
                    </a:ext>
                  </a:extLst>
                </a:gridCol>
              </a:tblGrid>
              <a:tr h="45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Tableau Concept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Power BI Equivalent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1772475"/>
                  </a:ext>
                </a:extLst>
              </a:tr>
              <a:tr h="45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Worksheet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Visual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4793093"/>
                  </a:ext>
                </a:extLst>
              </a:tr>
              <a:tr h="45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Dashboard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Report Page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60138326"/>
                  </a:ext>
                </a:extLst>
              </a:tr>
              <a:tr h="45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Story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Presentation layer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391620"/>
                  </a:ext>
                </a:extLst>
              </a:tr>
              <a:tr h="45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Extract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Import dataset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1145759"/>
                  </a:ext>
                </a:extLst>
              </a:tr>
              <a:tr h="455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Tableau Server</a:t>
                      </a:r>
                      <a:endParaRPr lang="en-US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Power BI Service</a:t>
                      </a:r>
                      <a:endParaRPr lang="en-US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8974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940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6A01-CA70-6BF5-61A8-9FD5CCE9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Tableau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D70F1-C611-36A6-C7A6-6B32136E7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366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D4217-8961-F9CF-06A6-5951328A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B875E-3250-F445-B3D7-E13F813C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9412B-1E66-E872-5B25-FC3223141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organizes analytics content using a hierarchy of objects.</a:t>
            </a:r>
          </a:p>
          <a:p>
            <a:r>
              <a:rPr lang="en-US" dirty="0"/>
              <a:t>Basic structure:</a:t>
            </a:r>
          </a:p>
          <a:p>
            <a:r>
              <a:rPr lang="en-US" dirty="0"/>
              <a:t>Data Source → Worksheet → Dashboard → Story → Published to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017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4A42-F29B-A4A6-7C92-332563695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11AA-221C-2CB2-11FC-F03F054DD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4899C-A2A8-F62F-44BF-9778C62B1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Data Source – Where data comes from</a:t>
            </a:r>
            <a:br>
              <a:rPr lang="en-US" dirty="0"/>
            </a:br>
            <a:r>
              <a:rPr lang="en-US" dirty="0"/>
              <a:t>• Worksheet – Individual visualization</a:t>
            </a:r>
            <a:br>
              <a:rPr lang="en-US" dirty="0"/>
            </a:br>
            <a:r>
              <a:rPr lang="en-US" dirty="0"/>
              <a:t>• Dashboard – Combination of visualizations</a:t>
            </a:r>
            <a:br>
              <a:rPr lang="en-US" dirty="0"/>
            </a:br>
            <a:r>
              <a:rPr lang="en-US" dirty="0"/>
              <a:t>• Story – Sequential narrative using dashboards</a:t>
            </a:r>
            <a:br>
              <a:rPr lang="en-US" dirty="0"/>
            </a:br>
            <a:r>
              <a:rPr lang="en-US" dirty="0"/>
              <a:t>• Tableau Server – Platform for sharing dashboards</a:t>
            </a:r>
          </a:p>
        </p:txBody>
      </p:sp>
    </p:spTree>
    <p:extLst>
      <p:ext uri="{BB962C8B-B14F-4D97-AF65-F5344CB8AC3E}">
        <p14:creationId xmlns:p14="http://schemas.microsoft.com/office/powerpoint/2010/main" val="2229300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5EAC-8FCF-4AA4-57BD-7240F922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A8269-635F-2043-8515-AFC5BB98E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 vs Visual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C7AC7-BC24-8830-D030-665963F7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28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60291-A043-DFFF-C6DE-BE5C9196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CF82-86AB-EF42-7A45-2D48337FE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5CC97-44D4-F120-CF19-5335BAA70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Tableau: Worksheet</a:t>
            </a:r>
          </a:p>
          <a:p>
            <a:r>
              <a:rPr lang="en-US" dirty="0"/>
              <a:t>A worksheet in Tableau is a </a:t>
            </a:r>
            <a:r>
              <a:rPr lang="en-US" b="1" dirty="0"/>
              <a:t>single visualization workspace</a:t>
            </a:r>
            <a:r>
              <a:rPr lang="en-US" dirty="0"/>
              <a:t> where users create charts.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Bar charts</a:t>
            </a:r>
            <a:br>
              <a:rPr lang="en-US" dirty="0"/>
            </a:br>
            <a:r>
              <a:rPr lang="en-US" dirty="0"/>
              <a:t>• Line charts</a:t>
            </a:r>
            <a:br>
              <a:rPr lang="en-US" dirty="0"/>
            </a:br>
            <a:r>
              <a:rPr lang="en-US" dirty="0"/>
              <a:t>• Maps</a:t>
            </a:r>
            <a:br>
              <a:rPr lang="en-US" dirty="0"/>
            </a:br>
            <a:r>
              <a:rPr lang="en-US" dirty="0"/>
              <a:t>• Scatter plots</a:t>
            </a:r>
          </a:p>
          <a:p>
            <a:r>
              <a:rPr lang="en-US" dirty="0"/>
              <a:t>Each worksheet typically represents </a:t>
            </a:r>
            <a:r>
              <a:rPr lang="en-US" b="1" dirty="0"/>
              <a:t>one chart or analysis view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01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2E22-F887-6CCE-CC3C-7B09E939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EA44-4D1F-0465-6FF2-C3F614BA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1FAC8-CF25-08EC-E199-6625FD42D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Equivalent: Visual</a:t>
            </a:r>
          </a:p>
          <a:p>
            <a:r>
              <a:rPr lang="en-US" dirty="0"/>
              <a:t>In Power BI, a </a:t>
            </a:r>
            <a:r>
              <a:rPr lang="en-US" b="1" dirty="0"/>
              <a:t>visual</a:t>
            </a:r>
            <a:r>
              <a:rPr lang="en-US" dirty="0"/>
              <a:t> represents a single chart on a report canvas.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Column chart</a:t>
            </a:r>
            <a:br>
              <a:rPr lang="en-US" dirty="0"/>
            </a:br>
            <a:r>
              <a:rPr lang="en-US" dirty="0"/>
              <a:t>• Line chart</a:t>
            </a:r>
            <a:br>
              <a:rPr lang="en-US" dirty="0"/>
            </a:br>
            <a:r>
              <a:rPr lang="en-US" dirty="0"/>
              <a:t>• KPI card</a:t>
            </a:r>
            <a:br>
              <a:rPr lang="en-US" dirty="0"/>
            </a:br>
            <a:r>
              <a:rPr lang="en-US" dirty="0"/>
              <a:t>• Matrix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9965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C5DD6-9CBB-F58F-EBB3-10EADB84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D37E-1BB0-820F-884C-86648CF9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vs Report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3AB09-836F-06A2-BF5B-12AF8674A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25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8C64A-BDD7-0FCB-79E1-FF3D4B96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A38F-CCA0-CDBD-3C99-BF9DEA38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70DD-93B0-E8B3-EB1F-BD13E0000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Dashboard</a:t>
            </a:r>
          </a:p>
          <a:p>
            <a:r>
              <a:rPr lang="en-US" dirty="0"/>
              <a:t>A dashboard combines </a:t>
            </a:r>
            <a:r>
              <a:rPr lang="en-US" b="1" dirty="0"/>
              <a:t>multiple worksheets into a single interactive view</a:t>
            </a:r>
            <a:r>
              <a:rPr lang="en-US" dirty="0"/>
              <a:t>.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• Multiple charts on one screen</a:t>
            </a:r>
            <a:br>
              <a:rPr lang="en-US" dirty="0"/>
            </a:br>
            <a:r>
              <a:rPr lang="en-US" dirty="0"/>
              <a:t>• Filters and interactions</a:t>
            </a:r>
            <a:br>
              <a:rPr lang="en-US" dirty="0"/>
            </a:br>
            <a:r>
              <a:rPr lang="en-US" dirty="0"/>
              <a:t>• Layout containers</a:t>
            </a:r>
            <a:br>
              <a:rPr lang="en-US" dirty="0"/>
            </a:br>
            <a:r>
              <a:rPr lang="en-US" dirty="0"/>
              <a:t>• Dashboard actions</a:t>
            </a:r>
          </a:p>
          <a:p>
            <a:r>
              <a:rPr lang="en-US" dirty="0"/>
              <a:t>Dashboards are typically used for </a:t>
            </a:r>
            <a:r>
              <a:rPr lang="en-US" b="1" dirty="0"/>
              <a:t>executive summaries or business monitoring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66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5830-786F-8409-9B3B-B33012FA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4662-1A06-3474-1BA4-E2E7A6A9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0E946-AFF7-0A20-6A2F-44B41C721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Equivalent: Report Page</a:t>
            </a:r>
          </a:p>
          <a:p>
            <a:r>
              <a:rPr lang="en-US" dirty="0"/>
              <a:t>In Power BI, dashboards are usually represented by </a:t>
            </a:r>
            <a:r>
              <a:rPr lang="en-US" b="1" dirty="0"/>
              <a:t>report pages</a:t>
            </a:r>
            <a:r>
              <a:rPr lang="en-US" dirty="0"/>
              <a:t>.</a:t>
            </a:r>
          </a:p>
          <a:p>
            <a:r>
              <a:rPr lang="en-US" dirty="0"/>
              <a:t>A report page contains:</a:t>
            </a:r>
          </a:p>
          <a:p>
            <a:r>
              <a:rPr lang="en-US" dirty="0"/>
              <a:t>• Multiple visuals</a:t>
            </a:r>
            <a:br>
              <a:rPr lang="en-US" dirty="0"/>
            </a:br>
            <a:r>
              <a:rPr lang="en-US" dirty="0"/>
              <a:t>• Slicers</a:t>
            </a:r>
            <a:br>
              <a:rPr lang="en-US" dirty="0"/>
            </a:br>
            <a:r>
              <a:rPr lang="en-US" dirty="0"/>
              <a:t>• Filters</a:t>
            </a:r>
            <a:br>
              <a:rPr lang="en-US" dirty="0"/>
            </a:br>
            <a:r>
              <a:rPr lang="en-US" dirty="0"/>
              <a:t>• Interactive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629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2A2B-0840-8634-6FB4-E73B5808C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3D45-2A0D-785D-7E66-1C742A06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 vs 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A7BA5-70C1-0D68-1403-7C9E99DDA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5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C3F0A-07D5-2878-2632-FF8CF8DD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6847F-BEC7-0722-7E60-0E2ACA055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3CC96-6CEC-16D8-66D6-B1B881E84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Story</a:t>
            </a:r>
          </a:p>
          <a:p>
            <a:r>
              <a:rPr lang="en-US" dirty="0"/>
              <a:t>A story in Tableau allows users to </a:t>
            </a:r>
            <a:r>
              <a:rPr lang="en-US" b="1" dirty="0"/>
              <a:t>present insights step-by-step</a:t>
            </a:r>
            <a:r>
              <a:rPr lang="en-US" dirty="0"/>
              <a:t> using a sequence of dashboards or worksheets.</a:t>
            </a:r>
          </a:p>
          <a:p>
            <a:r>
              <a:rPr lang="en-US" dirty="0"/>
              <a:t>Each step is called a </a:t>
            </a:r>
            <a:r>
              <a:rPr lang="en-US" b="1" dirty="0"/>
              <a:t>Story Point</a:t>
            </a:r>
            <a:r>
              <a:rPr lang="en-US" dirty="0"/>
              <a:t>.</a:t>
            </a:r>
          </a:p>
          <a:p>
            <a:r>
              <a:rPr lang="en-US" dirty="0"/>
              <a:t>Stories are used for:</a:t>
            </a:r>
          </a:p>
          <a:p>
            <a:r>
              <a:rPr lang="en-US" dirty="0"/>
              <a:t>• Business presentations</a:t>
            </a:r>
            <a:br>
              <a:rPr lang="en-US" dirty="0"/>
            </a:br>
            <a:r>
              <a:rPr lang="en-US" dirty="0"/>
              <a:t>• Data storytelling</a:t>
            </a:r>
            <a:br>
              <a:rPr lang="en-US" dirty="0"/>
            </a:br>
            <a:r>
              <a:rPr lang="en-US" dirty="0"/>
              <a:t>• Guided analytics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907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E794F-7DCC-5463-08C6-32E75E054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3953-7CCE-C432-E5CA-4F4C3503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12CF7-B0E1-018A-98FA-AA490E8B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Power BI does not have a direct “Story” feature.</a:t>
            </a:r>
          </a:p>
          <a:p>
            <a:r>
              <a:rPr lang="en-US" dirty="0"/>
              <a:t>However similar outcomes can be achieved using:</a:t>
            </a:r>
          </a:p>
          <a:p>
            <a:r>
              <a:rPr lang="en-US" dirty="0"/>
              <a:t>• Report page navigation</a:t>
            </a:r>
            <a:br>
              <a:rPr lang="en-US" dirty="0"/>
            </a:br>
            <a:r>
              <a:rPr lang="en-US" dirty="0"/>
              <a:t>• Bookmarks</a:t>
            </a:r>
            <a:br>
              <a:rPr lang="en-US" dirty="0"/>
            </a:br>
            <a:r>
              <a:rPr lang="en-US" dirty="0"/>
              <a:t>• Buttons</a:t>
            </a:r>
            <a:br>
              <a:rPr lang="en-US" dirty="0"/>
            </a:br>
            <a:r>
              <a:rPr lang="en-US" dirty="0"/>
              <a:t>• Presentation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0162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60DC-7252-C1E8-EFAE-371962C37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7BE9-DBC5-BE2D-45B6-09212B39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vs Import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520C-EC3E-9B20-A499-E6FD7AC57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842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AD6F-5070-5811-929D-479E4E0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E28F1-F9B0-3029-B0EE-A4978991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4F436-8B55-2D1A-0D32-8699706FF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Extract</a:t>
            </a:r>
          </a:p>
          <a:p>
            <a:r>
              <a:rPr lang="en-US" dirty="0"/>
              <a:t>Tableau can store a </a:t>
            </a:r>
            <a:r>
              <a:rPr lang="en-US" b="1" dirty="0"/>
              <a:t>snapshot of data locally</a:t>
            </a:r>
            <a:r>
              <a:rPr lang="en-US" dirty="0"/>
              <a:t> using an Extract.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• Stored in .hyper format</a:t>
            </a:r>
            <a:br>
              <a:rPr lang="en-US" dirty="0"/>
            </a:br>
            <a:r>
              <a:rPr lang="en-US" dirty="0"/>
              <a:t>• Faster query performance</a:t>
            </a:r>
            <a:br>
              <a:rPr lang="en-US" dirty="0"/>
            </a:br>
            <a:r>
              <a:rPr lang="en-US" dirty="0"/>
              <a:t>• Reduces dependency on live data source</a:t>
            </a:r>
            <a:br>
              <a:rPr lang="en-US" dirty="0"/>
            </a:br>
            <a:r>
              <a:rPr lang="en-US" dirty="0"/>
              <a:t>• Used for offline analysis</a:t>
            </a:r>
          </a:p>
          <a:p>
            <a:r>
              <a:rPr lang="en-US" dirty="0"/>
              <a:t>Extracts are widely used for </a:t>
            </a:r>
            <a:r>
              <a:rPr lang="en-US" b="1" dirty="0"/>
              <a:t>performance optimization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93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2ACA8-F0EE-6C06-6D21-C6318AB1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2660B-1E55-4143-2D11-BB278775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3C09-1AAA-F08A-D78F-500CCF5A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 – Import Mode</a:t>
            </a:r>
          </a:p>
          <a:p>
            <a:r>
              <a:rPr lang="en-US" dirty="0"/>
              <a:t>In Power BI, Import mode loads data into the </a:t>
            </a:r>
            <a:r>
              <a:rPr lang="en-US" b="1" dirty="0" err="1"/>
              <a:t>VertiPaq</a:t>
            </a:r>
            <a:r>
              <a:rPr lang="en-US" b="1" dirty="0"/>
              <a:t> engine</a:t>
            </a:r>
            <a:r>
              <a:rPr lang="en-US" dirty="0"/>
              <a:t>.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• Data stored in PBIX dataset</a:t>
            </a:r>
            <a:br>
              <a:rPr lang="en-US" dirty="0"/>
            </a:br>
            <a:r>
              <a:rPr lang="en-US" dirty="0"/>
              <a:t>• High-performance in-memory analytics</a:t>
            </a:r>
            <a:br>
              <a:rPr lang="en-US" dirty="0"/>
            </a:br>
            <a:r>
              <a:rPr lang="en-US" dirty="0"/>
              <a:t>• Supports advanced DAX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3229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DA18-28E5-E9CC-8944-E8DC4548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F3026-CC8F-310D-E1A5-1C11D681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Server vs Power BI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4F334-D491-9B2C-DD68-847120DC2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167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9397-A283-4FE2-7D4A-DDDD343E7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2873-AEFF-64EC-C7D1-FEBF324B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82E1F-0F22-C107-E219-E4D8606F3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Server</a:t>
            </a:r>
          </a:p>
          <a:p>
            <a:r>
              <a:rPr lang="en-US" dirty="0"/>
              <a:t>Tableau Server is the </a:t>
            </a:r>
            <a:r>
              <a:rPr lang="en-US" b="1" dirty="0"/>
              <a:t>platform used to publish and share dashboards</a:t>
            </a:r>
            <a:r>
              <a:rPr lang="en-US" dirty="0"/>
              <a:t> within an organization.</a:t>
            </a:r>
          </a:p>
          <a:p>
            <a:r>
              <a:rPr lang="en-US" dirty="0"/>
              <a:t>Capabilities:</a:t>
            </a:r>
          </a:p>
          <a:p>
            <a:r>
              <a:rPr lang="en-US" dirty="0"/>
              <a:t>• Dashboard sharing</a:t>
            </a:r>
            <a:br>
              <a:rPr lang="en-US" dirty="0"/>
            </a:br>
            <a:r>
              <a:rPr lang="en-US" dirty="0"/>
              <a:t>• User access control</a:t>
            </a:r>
            <a:br>
              <a:rPr lang="en-US" dirty="0"/>
            </a:br>
            <a:r>
              <a:rPr lang="en-US" dirty="0"/>
              <a:t>• Data refresh scheduling</a:t>
            </a:r>
            <a:br>
              <a:rPr lang="en-US" dirty="0"/>
            </a:br>
            <a:r>
              <a:rPr lang="en-US" dirty="0"/>
              <a:t>• Collaboration</a:t>
            </a:r>
          </a:p>
          <a:p>
            <a:r>
              <a:rPr lang="en-US" dirty="0"/>
              <a:t>Organizations can deploy Tableau Server </a:t>
            </a:r>
            <a:r>
              <a:rPr lang="en-US" b="1" dirty="0"/>
              <a:t>on-premise or in cloud environments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13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633DE-A49E-8AC0-0CB5-1776D349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BDBE-467A-18D7-AC48-72DBABD69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A157-A96D-B513-F5D5-5CEC8791C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 – Power BI Service</a:t>
            </a:r>
          </a:p>
          <a:p>
            <a:r>
              <a:rPr lang="en-US" dirty="0"/>
              <a:t>Power BI Service is the </a:t>
            </a:r>
            <a:r>
              <a:rPr lang="en-US" b="1" dirty="0"/>
              <a:t>cloud platform for sharing reports and dashboards</a:t>
            </a:r>
            <a:r>
              <a:rPr lang="en-US" dirty="0"/>
              <a:t>.</a:t>
            </a:r>
          </a:p>
          <a:p>
            <a:r>
              <a:rPr lang="en-US" dirty="0"/>
              <a:t>Capabilities:</a:t>
            </a:r>
          </a:p>
          <a:p>
            <a:r>
              <a:rPr lang="en-US" dirty="0"/>
              <a:t>• Report publishing</a:t>
            </a:r>
            <a:br>
              <a:rPr lang="en-US" dirty="0"/>
            </a:br>
            <a:r>
              <a:rPr lang="en-US" dirty="0"/>
              <a:t>• Workspace collaboration</a:t>
            </a:r>
            <a:br>
              <a:rPr lang="en-US" dirty="0"/>
            </a:br>
            <a:r>
              <a:rPr lang="en-US" dirty="0"/>
              <a:t>• Scheduled refresh</a:t>
            </a:r>
            <a:br>
              <a:rPr lang="en-US" dirty="0"/>
            </a:br>
            <a:r>
              <a:rPr lang="en-US" dirty="0"/>
              <a:t>• Dashboard sharing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8424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BDD01-1861-FF8E-1047-0F640A4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BC2D-3A46-1E74-FDFD-44E5BB11D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Mapping Matters for Migration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2B8D0-B0A6-9AF3-5D2F-4E2C0B53A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05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BA9B-F768-E946-BB9E-FCA60C53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B74D-F3B7-2D6E-DBD6-248855162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7A9CF-01CB-2F98-4EC2-DB161EBB3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migrating dashboards:</a:t>
            </a:r>
          </a:p>
          <a:p>
            <a:r>
              <a:rPr lang="en-US" dirty="0"/>
              <a:t>• Worksheets must be recreated as visuals</a:t>
            </a:r>
            <a:br>
              <a:rPr lang="en-US" dirty="0"/>
            </a:br>
            <a:r>
              <a:rPr lang="en-US" dirty="0"/>
              <a:t>• Dashboards must be redesigned as report pages</a:t>
            </a:r>
            <a:br>
              <a:rPr lang="en-US" dirty="0"/>
            </a:br>
            <a:r>
              <a:rPr lang="en-US" dirty="0"/>
              <a:t>• Extract-based datasets must be rebuilt as Power BI datasets</a:t>
            </a:r>
            <a:br>
              <a:rPr lang="en-US" dirty="0"/>
            </a:br>
            <a:r>
              <a:rPr lang="en-US" dirty="0"/>
              <a:t>• Stories may need bookmark-based navigation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B00C9-638D-19CD-7B73-6046C2F62033}"/>
              </a:ext>
            </a:extLst>
          </p:cNvPr>
          <p:cNvSpPr txBox="1"/>
          <p:nvPr/>
        </p:nvSpPr>
        <p:spPr>
          <a:xfrm>
            <a:off x="2959100" y="552375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/>
              <a:t>Understanding these equivalences makes </a:t>
            </a:r>
          </a:p>
          <a:p>
            <a:pPr algn="ctr">
              <a:buNone/>
            </a:pPr>
            <a:r>
              <a:rPr lang="en-US" dirty="0"/>
              <a:t>migration </a:t>
            </a:r>
          </a:p>
          <a:p>
            <a:pPr algn="ctr">
              <a:buNone/>
            </a:pPr>
            <a:r>
              <a:rPr lang="en-US" b="1" dirty="0"/>
              <a:t>faster and more structured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70518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30154-2187-8179-5316-C39BCE241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Interface Explained for Power BI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1912-B73F-62E2-AE1B-2CE15F4DD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Power BI users first open Tableau, the interface may look different.</a:t>
            </a:r>
          </a:p>
          <a:p>
            <a:r>
              <a:rPr lang="en-US" dirty="0"/>
              <a:t>However, the core purpose remains the same:</a:t>
            </a:r>
          </a:p>
          <a:p>
            <a:r>
              <a:rPr lang="en-US" dirty="0"/>
              <a:t>• Connect to data</a:t>
            </a:r>
            <a:br>
              <a:rPr lang="en-US" dirty="0"/>
            </a:br>
            <a:r>
              <a:rPr lang="en-US" dirty="0"/>
              <a:t>• Build visualizations</a:t>
            </a:r>
            <a:br>
              <a:rPr lang="en-US" dirty="0"/>
            </a:br>
            <a:r>
              <a:rPr lang="en-US" dirty="0"/>
              <a:t>• Create dashboards</a:t>
            </a:r>
            <a:br>
              <a:rPr lang="en-US" dirty="0"/>
            </a:br>
            <a:r>
              <a:rPr lang="en-US" dirty="0"/>
              <a:t>• Share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3019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9EFB-C1C3-9756-A1CF-09C4F73F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Components of Tableau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A9CCF-F69E-F94E-2C67-CD5BE440C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00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7FD8-5E29-F5A4-1D4D-35E6F17D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43FD-D985-801F-0080-B4022CF1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74F71-5005-1DBA-D972-58762F2E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Tableau workspace is divided into several important areas: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Data Pane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Shelves (Rows, Columns, Filters)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Marks Card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Visualization Canvas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Show Me Panel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Dashboard Layout Panel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877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8DA7-AF58-0ADA-F9A4-70F948E10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1B44-6EA7-C1BF-3EC8-BC2E5364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Pane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6F530-90E5-3BB0-B1B8-873998212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Data Pane displays all available fields in the dataset.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Fields are categorized into: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• Dimensions</a:t>
            </a:r>
            <a:br>
              <a:rPr lang="en-US" dirty="0"/>
            </a:br>
            <a:r>
              <a:rPr lang="en-US" dirty="0"/>
              <a:t>• Measures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Dimensions represent </a:t>
            </a:r>
            <a:r>
              <a:rPr lang="en-US" b="1" dirty="0"/>
              <a:t>categorical data</a:t>
            </a:r>
            <a:r>
              <a:rPr lang="en-US" dirty="0"/>
              <a:t> such as: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Region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Customer Name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Category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Measures represent </a:t>
            </a:r>
            <a:r>
              <a:rPr lang="en-US" b="1" dirty="0"/>
              <a:t>numerical data</a:t>
            </a:r>
            <a:r>
              <a:rPr lang="en-US" dirty="0"/>
              <a:t> such as: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Sales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Profit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Quantity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88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53A31-DD10-85EA-DF7D-2A1F7F2F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B77BE-0C4A-BD3B-3549-29C0454EF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Power BI also organizes fields inside the </a:t>
            </a:r>
            <a:r>
              <a:rPr lang="en-US" b="1" dirty="0"/>
              <a:t>Fields pane</a:t>
            </a:r>
            <a:r>
              <a:rPr lang="en-US" dirty="0"/>
              <a:t>, where users select columns and measures for visuals.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805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B292-76C1-1552-0FE9-AE4F20B5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B759-B4D7-1A76-05DE-3B0571333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Rows and Columns Shelves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7097F-2CC5-E90F-D782-B5B1620AB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Rows Shelf</a:t>
            </a:r>
          </a:p>
          <a:p>
            <a:r>
              <a:rPr lang="en-US" dirty="0"/>
              <a:t>The Rows shelf determines what appears on the </a:t>
            </a:r>
            <a:r>
              <a:rPr lang="en-US" b="1" dirty="0"/>
              <a:t>vertical axis</a:t>
            </a:r>
            <a:r>
              <a:rPr lang="en-US" dirty="0"/>
              <a:t> of the chart.</a:t>
            </a:r>
          </a:p>
          <a:p>
            <a:r>
              <a:rPr lang="en-US" b="1" dirty="0"/>
              <a:t>Columns Shelf</a:t>
            </a:r>
          </a:p>
          <a:p>
            <a:r>
              <a:rPr lang="en-US" dirty="0"/>
              <a:t>The Columns shelf determines what appears on the </a:t>
            </a:r>
            <a:r>
              <a:rPr lang="en-US" b="1" dirty="0"/>
              <a:t>horizontal axis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Columns → Order Date</a:t>
            </a:r>
            <a:br>
              <a:rPr lang="en-US" dirty="0"/>
            </a:br>
            <a:r>
              <a:rPr lang="en-US" dirty="0"/>
              <a:t>Rows → SUM(Sales)</a:t>
            </a:r>
          </a:p>
          <a:p>
            <a:r>
              <a:rPr lang="en-US" dirty="0"/>
              <a:t>This produces a </a:t>
            </a:r>
            <a:r>
              <a:rPr lang="en-US" b="1" dirty="0"/>
              <a:t>line chart showing sales trend over time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39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2C3B7-2CCB-CF06-67DB-A044E90D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FD3D-6578-3106-CF36-C9CA304C2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1EF93-F2C0-E60F-DE1D-15859EE4F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In Power BI, similar behavior is controlled using:</a:t>
            </a:r>
          </a:p>
          <a:p>
            <a:r>
              <a:rPr lang="en-US" dirty="0"/>
              <a:t>• Axis</a:t>
            </a:r>
            <a:br>
              <a:rPr lang="en-US" dirty="0"/>
            </a:br>
            <a:r>
              <a:rPr lang="en-US" dirty="0"/>
              <a:t>• Legend</a:t>
            </a:r>
            <a:br>
              <a:rPr lang="en-US" dirty="0"/>
            </a:br>
            <a:r>
              <a:rPr lang="en-US" dirty="0"/>
              <a:t>• Values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332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678E1-301D-86E0-0E7B-63CE6A41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3604-BA93-5CFF-4A39-E37A972D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Marks Card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0EDF-AEA1-1077-B39F-1FE6E6CE7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Marks Card</a:t>
            </a:r>
            <a:r>
              <a:rPr lang="en-US" dirty="0"/>
              <a:t> controls how the visualization looks.</a:t>
            </a:r>
          </a:p>
          <a:p>
            <a:r>
              <a:rPr lang="en-US" dirty="0"/>
              <a:t>Options available in Marks card include:</a:t>
            </a:r>
          </a:p>
          <a:p>
            <a:r>
              <a:rPr lang="en-US" dirty="0"/>
              <a:t>• Color</a:t>
            </a:r>
            <a:br>
              <a:rPr lang="en-US" dirty="0"/>
            </a:br>
            <a:r>
              <a:rPr lang="en-US" dirty="0"/>
              <a:t>• Size</a:t>
            </a:r>
            <a:br>
              <a:rPr lang="en-US" dirty="0"/>
            </a:br>
            <a:r>
              <a:rPr lang="en-US" dirty="0"/>
              <a:t>• Label</a:t>
            </a:r>
            <a:br>
              <a:rPr lang="en-US" dirty="0"/>
            </a:br>
            <a:r>
              <a:rPr lang="en-US" dirty="0"/>
              <a:t>• Detail</a:t>
            </a:r>
            <a:br>
              <a:rPr lang="en-US" dirty="0"/>
            </a:br>
            <a:r>
              <a:rPr lang="en-US" dirty="0"/>
              <a:t>• Tooltip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Sales → Color</a:t>
            </a:r>
            <a:br>
              <a:rPr lang="en-US" dirty="0"/>
            </a:br>
            <a:r>
              <a:rPr lang="en-US" dirty="0"/>
              <a:t>Region → Detail</a:t>
            </a:r>
          </a:p>
          <a:p>
            <a:r>
              <a:rPr lang="en-US" dirty="0"/>
              <a:t>This helps create </a:t>
            </a:r>
            <a:r>
              <a:rPr lang="en-US" b="1" dirty="0"/>
              <a:t>more informative visualizations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3571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9961-FB82-0D77-CA1E-97301E06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E1B2-AF38-8F8A-052E-24615DA1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925BE-D163-DCC5-7117-004AE60D5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Power BI uses the </a:t>
            </a:r>
            <a:r>
              <a:rPr lang="en-US" b="1" dirty="0"/>
              <a:t>Format pane and field wells</a:t>
            </a:r>
            <a:r>
              <a:rPr lang="en-US" dirty="0"/>
              <a:t> to control visual appearance.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1019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A3D67-8FDC-AF88-1B91-2CDE9AAC4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83019-BAB6-0E13-728D-B5496B91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Filters Shelf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627AF-B2E0-47CB-4B7E-D965B63A7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Filters allow users to restrict data shown in a visualization.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• Filter by Region</a:t>
            </a:r>
            <a:br>
              <a:rPr lang="en-US" dirty="0"/>
            </a:br>
            <a:r>
              <a:rPr lang="en-US" dirty="0"/>
              <a:t>• Filter by Category</a:t>
            </a:r>
            <a:br>
              <a:rPr lang="en-US" dirty="0"/>
            </a:br>
            <a:r>
              <a:rPr lang="en-US" dirty="0"/>
              <a:t>• Filter by Date range</a:t>
            </a:r>
          </a:p>
          <a:p>
            <a:r>
              <a:rPr lang="en-US" dirty="0"/>
              <a:t>Filters can be applied at:</a:t>
            </a:r>
          </a:p>
          <a:p>
            <a:r>
              <a:rPr lang="en-US" dirty="0"/>
              <a:t>• Worksheet level</a:t>
            </a:r>
            <a:br>
              <a:rPr lang="en-US" dirty="0"/>
            </a:br>
            <a:r>
              <a:rPr lang="en-US" dirty="0"/>
              <a:t>• Dashboard level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5153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8A1E-13E5-A912-A67A-00213773F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5A065-91E5-76A2-C99C-1EB5C0BA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831B3-5C70-7DC8-B719-E2B59139F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Power BI offers multiple filtering options:</a:t>
            </a:r>
          </a:p>
          <a:p>
            <a:r>
              <a:rPr lang="en-US" dirty="0"/>
              <a:t>• Visual filters</a:t>
            </a:r>
            <a:br>
              <a:rPr lang="en-US" dirty="0"/>
            </a:br>
            <a:r>
              <a:rPr lang="en-US" dirty="0"/>
              <a:t>• Page filters</a:t>
            </a:r>
            <a:br>
              <a:rPr lang="en-US" dirty="0"/>
            </a:br>
            <a:r>
              <a:rPr lang="en-US" dirty="0"/>
              <a:t>• Report filters</a:t>
            </a:r>
            <a:br>
              <a:rPr lang="en-US" dirty="0"/>
            </a:br>
            <a:r>
              <a:rPr lang="en-US" dirty="0"/>
              <a:t>• Slicers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0909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4C8AB-C84E-0620-1606-B6FA3173B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0071-9838-7432-724B-CEF14B04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Me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61478-0E53-2E95-2C71-836654361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Show Me panel</a:t>
            </a:r>
            <a:r>
              <a:rPr lang="en-US" dirty="0"/>
              <a:t> suggests different chart types based on selected data fields.</a:t>
            </a:r>
          </a:p>
          <a:p>
            <a:r>
              <a:rPr lang="en-US" dirty="0"/>
              <a:t>Examples of charts suggested:</a:t>
            </a:r>
          </a:p>
          <a:p>
            <a:r>
              <a:rPr lang="en-US" dirty="0"/>
              <a:t>• Bar chart</a:t>
            </a:r>
            <a:br>
              <a:rPr lang="en-US" dirty="0"/>
            </a:br>
            <a:r>
              <a:rPr lang="en-US" dirty="0"/>
              <a:t>• Line chart</a:t>
            </a:r>
            <a:br>
              <a:rPr lang="en-US" dirty="0"/>
            </a:br>
            <a:r>
              <a:rPr lang="en-US" dirty="0"/>
              <a:t>• Map</a:t>
            </a:r>
            <a:br>
              <a:rPr lang="en-US" dirty="0"/>
            </a:br>
            <a:r>
              <a:rPr lang="en-US" dirty="0"/>
              <a:t>• Scatter plot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Treemap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05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CB3E-DFB0-96AC-846D-1684A3390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23AD1-832C-7F61-8D3B-F788B40C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31C0-0AF7-C45F-3545-BECE65DA9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Power BI uses the </a:t>
            </a:r>
            <a:r>
              <a:rPr lang="en-US" b="1" dirty="0"/>
              <a:t>Visualizations pane</a:t>
            </a:r>
            <a:r>
              <a:rPr lang="en-US" dirty="0"/>
              <a:t>, where users manually select chart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1289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DBA7-966F-0247-67D0-EFD8C09B7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25446-5EC3-60D1-3DD2-D2BEB3CD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Visualization Canvas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A3D83-B103-EBD9-219C-7C551E690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canvas is the central area where visualizations are displayed.</a:t>
            </a:r>
          </a:p>
          <a:p>
            <a:r>
              <a:rPr lang="en-US" dirty="0"/>
              <a:t>Users drag fields from the Data Pane and place them on:</a:t>
            </a:r>
          </a:p>
          <a:p>
            <a:r>
              <a:rPr lang="en-US" dirty="0"/>
              <a:t>• Rows</a:t>
            </a:r>
            <a:br>
              <a:rPr lang="en-US" dirty="0"/>
            </a:br>
            <a:r>
              <a:rPr lang="en-US" dirty="0"/>
              <a:t>• Columns</a:t>
            </a:r>
            <a:br>
              <a:rPr lang="en-US" dirty="0"/>
            </a:br>
            <a:r>
              <a:rPr lang="en-US" dirty="0"/>
              <a:t>• Marks</a:t>
            </a:r>
          </a:p>
          <a:p>
            <a:r>
              <a:rPr lang="en-US" dirty="0"/>
              <a:t>Tableau automatically generates a chart based on field combinations.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4276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9E4F-C9F7-0A06-EDB5-9356BE0C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05CD-4984-242E-2B53-90BB17F0C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436A9-E302-00C8-9AEA-5F2775221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In Power BI, visuals are created on the </a:t>
            </a:r>
            <a:r>
              <a:rPr lang="en-US" b="1" dirty="0"/>
              <a:t>Report Canvas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017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557F-806E-127A-3FDD-E929712E2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D9FD-BE0F-5F9F-74D4-217A820A5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 Layout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32F1E-665E-182A-A676-194A8D2C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creating dashboards, Tableau provides a layout panel where users can arrange worksheets.</a:t>
            </a:r>
          </a:p>
          <a:p>
            <a:r>
              <a:rPr lang="en-US" dirty="0"/>
              <a:t>Options include:</a:t>
            </a:r>
          </a:p>
          <a:p>
            <a:r>
              <a:rPr lang="en-US" dirty="0"/>
              <a:t>• Horizontal containers</a:t>
            </a:r>
            <a:br>
              <a:rPr lang="en-US" dirty="0"/>
            </a:br>
            <a:r>
              <a:rPr lang="en-US" dirty="0"/>
              <a:t>• Vertical containers</a:t>
            </a:r>
            <a:br>
              <a:rPr lang="en-US" dirty="0"/>
            </a:br>
            <a:r>
              <a:rPr lang="en-US" dirty="0"/>
              <a:t>• Floating objects</a:t>
            </a:r>
          </a:p>
          <a:p>
            <a:r>
              <a:rPr lang="en-US" dirty="0"/>
              <a:t>This helps design structured dashboards.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4891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4533-83F9-A55B-E65B-B4420FD1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B2B5-AABB-9C2C-3E6B-2656C3B0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9AF2E-17C9-C17F-AD5B-9A08810BC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Equivalent</a:t>
            </a:r>
          </a:p>
          <a:p>
            <a:r>
              <a:rPr lang="en-US" dirty="0"/>
              <a:t>Power BI allows arranging visuals directly on the report page canvas.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211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20BB-3847-9A53-32E5-838D429E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77C0A-D21F-85D2-D28F-6D0CC856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3626-E04C-2EC5-5F43-1A67C41BE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112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D6E19-C856-6FDE-900D-58A786ACA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53A7-99A2-C8D9-3A05-8BF58F00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35C8-998F-321D-D6AE-495BD44EC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397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9628F-EBEE-4C9A-4B0C-168804EB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1868-B91C-1AFF-0259-4BEF1F17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23F3-7279-E7F5-DC6F-DC06B3EF3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Module 3 – Architecture Comparison</a:t>
            </a:r>
            <a:endParaRPr lang="en-US" dirty="0"/>
          </a:p>
          <a:p>
            <a:r>
              <a:rPr lang="en-US" dirty="0"/>
              <a:t>Topics:</a:t>
            </a:r>
          </a:p>
          <a:p>
            <a:pPr lvl="0"/>
            <a:r>
              <a:rPr lang="en-US" dirty="0"/>
              <a:t>Tableau Server vs Power BI Service</a:t>
            </a:r>
          </a:p>
          <a:p>
            <a:pPr lvl="0"/>
            <a:r>
              <a:rPr lang="en-US" dirty="0"/>
              <a:t>Tableau Extract vs Power BI Import</a:t>
            </a:r>
          </a:p>
          <a:p>
            <a:pPr lvl="0"/>
            <a:r>
              <a:rPr lang="en-US" dirty="0" err="1"/>
              <a:t>DirectQuery</a:t>
            </a:r>
            <a:r>
              <a:rPr lang="en-US" dirty="0"/>
              <a:t> vs Live Connection</a:t>
            </a:r>
          </a:p>
          <a:p>
            <a:pPr lvl="0"/>
            <a:r>
              <a:rPr lang="en-US" dirty="0"/>
              <a:t>Data connectivity comparison</a:t>
            </a:r>
          </a:p>
          <a:p>
            <a:pPr lvl="0"/>
            <a:r>
              <a:rPr lang="en-US" dirty="0"/>
              <a:t>Deployment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470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DB56-1D3F-876B-B415-82F33B9F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BI Platform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ECCB6-34AA-F360-2789-4670D6293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735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E097-20DD-E5C2-8890-3D8FC299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E50C-E261-C9FA-65A4-9965C915A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5F868-6B69-21A6-4FA1-0F8D334BC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organizations migrate from Tableau to Power BI, it is important to understand how both platforms handle:</a:t>
            </a:r>
          </a:p>
          <a:p>
            <a:r>
              <a:rPr lang="en-US" dirty="0"/>
              <a:t>• Data storage</a:t>
            </a:r>
            <a:br>
              <a:rPr lang="en-US" dirty="0"/>
            </a:br>
            <a:r>
              <a:rPr lang="en-US" dirty="0"/>
              <a:t>• Data processing (Calculated Fields) </a:t>
            </a:r>
            <a:r>
              <a:rPr lang="en-US" dirty="0" err="1"/>
              <a:t>VizQL</a:t>
            </a:r>
            <a:r>
              <a:rPr lang="en-US" dirty="0"/>
              <a:t> Engine of Tableau is as same as DAX of Power BI</a:t>
            </a:r>
            <a:br>
              <a:rPr lang="en-US" dirty="0"/>
            </a:br>
            <a:r>
              <a:rPr lang="en-US" dirty="0"/>
              <a:t>• Dashboard publishing</a:t>
            </a:r>
            <a:br>
              <a:rPr lang="en-US" dirty="0"/>
            </a:br>
            <a:r>
              <a:rPr lang="en-US" dirty="0"/>
              <a:t>• User access</a:t>
            </a:r>
            <a:br>
              <a:rPr lang="en-US" dirty="0"/>
            </a:br>
            <a:r>
              <a:rPr lang="en-US" dirty="0"/>
              <a:t>• Deployment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494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EEFE-A274-4DBC-D833-40A0CBE1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994A-DB87-70AE-48AB-15B09D2F2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2C73E-D687-0184-FA0B-DB7C3A96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platforms follow a similar analytics workflow:</a:t>
            </a:r>
          </a:p>
          <a:p>
            <a:r>
              <a:rPr lang="en-US" dirty="0"/>
              <a:t>Data Sources → Data Processing → Visualization → Sharing &amp; Collaboration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7518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158AC-EB1E-C791-FF6B-179E366C1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E185-DF54-BCAD-A258-7C9C46E2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B980-AC51-6048-C09C-FB2F97226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Tableau architecture typically includes:</a:t>
            </a:r>
          </a:p>
          <a:p>
            <a:r>
              <a:rPr lang="en-US" dirty="0"/>
              <a:t>• Tableau Desktop</a:t>
            </a:r>
            <a:br>
              <a:rPr lang="en-US" dirty="0"/>
            </a:br>
            <a:r>
              <a:rPr lang="en-US" dirty="0"/>
              <a:t>• Tableau Server / Tableau Online</a:t>
            </a:r>
            <a:br>
              <a:rPr lang="en-US" dirty="0"/>
            </a:br>
            <a:r>
              <a:rPr lang="en-US" dirty="0"/>
              <a:t>• Data extracts</a:t>
            </a:r>
          </a:p>
          <a:p>
            <a:r>
              <a:rPr lang="en-US" dirty="0"/>
              <a:t>Power BI architecture includes:</a:t>
            </a:r>
          </a:p>
          <a:p>
            <a:r>
              <a:rPr lang="en-US" dirty="0"/>
              <a:t>• Power BI Desktop</a:t>
            </a:r>
            <a:br>
              <a:rPr lang="en-US" dirty="0"/>
            </a:br>
            <a:r>
              <a:rPr lang="en-US" dirty="0"/>
              <a:t>• Power BI Service</a:t>
            </a:r>
            <a:br>
              <a:rPr lang="en-US" dirty="0"/>
            </a:br>
            <a:r>
              <a:rPr lang="en-US" dirty="0"/>
              <a:t>• Power BI Gateway</a:t>
            </a:r>
            <a:br>
              <a:rPr lang="en-US" dirty="0"/>
            </a:br>
            <a:r>
              <a:rPr lang="en-US" dirty="0"/>
              <a:t>• Power BI datasets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0532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4F8D-983B-C204-0028-15E85FA3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827E-B78C-3712-84E3-E81B23D9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Server vs Power BI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0F344-5217-A02E-0B84-2F862444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927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142B-E02F-156C-38F0-F4B0C861D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8525-C11E-7A32-F4E2-9394ACF31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35B33-3431-7C13-241D-638DD63F2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Tableau Server</a:t>
            </a:r>
          </a:p>
          <a:p>
            <a:r>
              <a:rPr lang="en-US" dirty="0"/>
              <a:t>Tableau Server is the platform used for </a:t>
            </a:r>
            <a:r>
              <a:rPr lang="en-US" b="1" dirty="0"/>
              <a:t>publishing and sharing dashboards within an organization</a:t>
            </a:r>
            <a:r>
              <a:rPr lang="en-US" dirty="0"/>
              <a:t>.</a:t>
            </a:r>
          </a:p>
          <a:p>
            <a:r>
              <a:rPr lang="en-US" dirty="0"/>
              <a:t>Key capabilities:</a:t>
            </a:r>
          </a:p>
          <a:p>
            <a:r>
              <a:rPr lang="en-US" dirty="0"/>
              <a:t>• Centralized dashboard hosting</a:t>
            </a:r>
            <a:br>
              <a:rPr lang="en-US" dirty="0"/>
            </a:br>
            <a:r>
              <a:rPr lang="en-US" dirty="0"/>
              <a:t>• User authentication and access control</a:t>
            </a:r>
            <a:br>
              <a:rPr lang="en-US" dirty="0"/>
            </a:br>
            <a:r>
              <a:rPr lang="en-US" dirty="0"/>
              <a:t>• Dashboard sharing across teams</a:t>
            </a:r>
            <a:br>
              <a:rPr lang="en-US" dirty="0"/>
            </a:br>
            <a:r>
              <a:rPr lang="en-US" dirty="0"/>
              <a:t>• Data refresh scheduling</a:t>
            </a:r>
            <a:br>
              <a:rPr lang="en-US" dirty="0"/>
            </a:br>
            <a:r>
              <a:rPr lang="en-US" dirty="0"/>
              <a:t>• Collaboration and comments</a:t>
            </a:r>
          </a:p>
          <a:p>
            <a:r>
              <a:rPr lang="en-US" dirty="0"/>
              <a:t>Tableau Server can be deployed:</a:t>
            </a:r>
          </a:p>
          <a:p>
            <a:r>
              <a:rPr lang="en-US" dirty="0"/>
              <a:t>• On-premise</a:t>
            </a:r>
            <a:br>
              <a:rPr lang="en-US" dirty="0"/>
            </a:br>
            <a:r>
              <a:rPr lang="en-US" dirty="0"/>
              <a:t>• Cloud infrastructure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042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5EBB0-8A00-36FD-C4BE-0D8750943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C316-421F-40B7-4FB1-3F3E6E3A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7932C-4032-4AC2-B679-5133909EE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Service</a:t>
            </a:r>
          </a:p>
          <a:p>
            <a:r>
              <a:rPr lang="en-US" dirty="0"/>
              <a:t>Power BI Service is the </a:t>
            </a:r>
            <a:r>
              <a:rPr lang="en-US" b="1" dirty="0"/>
              <a:t>cloud-based platform for publishing and sharing reports and dashboards</a:t>
            </a:r>
            <a:r>
              <a:rPr lang="en-US" dirty="0"/>
              <a:t>.</a:t>
            </a:r>
          </a:p>
          <a:p>
            <a:r>
              <a:rPr lang="en-US" dirty="0"/>
              <a:t>Key capabilities:</a:t>
            </a:r>
          </a:p>
          <a:p>
            <a:r>
              <a:rPr lang="en-US" dirty="0"/>
              <a:t>• Report and dashboard publishing</a:t>
            </a:r>
            <a:br>
              <a:rPr lang="en-US" dirty="0"/>
            </a:br>
            <a:r>
              <a:rPr lang="en-US" dirty="0"/>
              <a:t>• Workspace collaboration</a:t>
            </a:r>
            <a:br>
              <a:rPr lang="en-US" dirty="0"/>
            </a:br>
            <a:r>
              <a:rPr lang="en-US" dirty="0"/>
              <a:t>• Scheduled dataset refresh</a:t>
            </a:r>
            <a:br>
              <a:rPr lang="en-US" dirty="0"/>
            </a:br>
            <a:r>
              <a:rPr lang="en-US" dirty="0"/>
              <a:t>• Integration with Microsoft ecosystem</a:t>
            </a:r>
            <a:br>
              <a:rPr lang="en-US" dirty="0"/>
            </a:br>
            <a:r>
              <a:rPr lang="en-US" dirty="0"/>
              <a:t>• Sharing reports with internal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1271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42CEB-CDC1-8990-CCD2-4762C9C8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89FF6-6236-C085-121D-95FEEB34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Extract vs Power BI 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10E64-3473-73B2-BBCF-99BAE0309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219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16AC-F174-E0D3-3A1B-F0495B9F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2B0C-EAD8-8B80-845F-7C302CE3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49CF7-716D-DED4-A7A1-664919708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Extract</a:t>
            </a:r>
          </a:p>
          <a:p>
            <a:r>
              <a:rPr lang="en-US" dirty="0"/>
              <a:t>A Tableau Extract is a </a:t>
            </a:r>
            <a:r>
              <a:rPr lang="en-US" b="1" dirty="0"/>
              <a:t>local snapshot of data stored in Tableau’s Hyper format</a:t>
            </a:r>
            <a:r>
              <a:rPr lang="en-US" dirty="0"/>
              <a:t>.</a:t>
            </a:r>
          </a:p>
          <a:p>
            <a:r>
              <a:rPr lang="en-US" dirty="0"/>
              <a:t>Purpose:</a:t>
            </a:r>
          </a:p>
          <a:p>
            <a:r>
              <a:rPr lang="en-US" dirty="0"/>
              <a:t>• Improve performance</a:t>
            </a:r>
            <a:br>
              <a:rPr lang="en-US" dirty="0"/>
            </a:br>
            <a:r>
              <a:rPr lang="en-US" dirty="0"/>
              <a:t>• Reduce dependency on live databases</a:t>
            </a:r>
            <a:br>
              <a:rPr lang="en-US" dirty="0"/>
            </a:br>
            <a:r>
              <a:rPr lang="en-US" dirty="0"/>
              <a:t>• Enable offline analytics</a:t>
            </a:r>
            <a:br>
              <a:rPr lang="en-US" dirty="0"/>
            </a:br>
            <a:r>
              <a:rPr lang="en-US" dirty="0"/>
              <a:t>• Support faster dashboard loading</a:t>
            </a:r>
          </a:p>
          <a:p>
            <a:r>
              <a:rPr lang="en-US" dirty="0"/>
              <a:t>Extracts store a </a:t>
            </a:r>
            <a:r>
              <a:rPr lang="en-US" b="1" dirty="0"/>
              <a:t>compressed version of the dataset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835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17B3-9E9D-107B-606C-48EE4C93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95CF-605F-B403-C906-46111CB4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129-15A1-9968-2913-6B4CFF760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Import Mode</a:t>
            </a:r>
          </a:p>
          <a:p>
            <a:r>
              <a:rPr lang="en-US" dirty="0"/>
              <a:t>Power BI Import mode loads data into the </a:t>
            </a:r>
            <a:r>
              <a:rPr lang="en-US" b="1" dirty="0" err="1"/>
              <a:t>VertiPaq</a:t>
            </a:r>
            <a:r>
              <a:rPr lang="en-US" b="1" dirty="0"/>
              <a:t> in-memory engine</a:t>
            </a:r>
            <a:r>
              <a:rPr lang="en-US" dirty="0"/>
              <a:t>.</a:t>
            </a:r>
          </a:p>
          <a:p>
            <a:r>
              <a:rPr lang="en-US" dirty="0"/>
              <a:t>Benefits:</a:t>
            </a:r>
          </a:p>
          <a:p>
            <a:r>
              <a:rPr lang="en-US" dirty="0"/>
              <a:t>• High-performance queries</a:t>
            </a:r>
            <a:br>
              <a:rPr lang="en-US" dirty="0"/>
            </a:br>
            <a:r>
              <a:rPr lang="en-US" dirty="0"/>
              <a:t>• Fast visual rendering</a:t>
            </a:r>
            <a:br>
              <a:rPr lang="en-US" dirty="0"/>
            </a:br>
            <a:r>
              <a:rPr lang="en-US" dirty="0"/>
              <a:t>• Advanced DAX calculations</a:t>
            </a:r>
            <a:br>
              <a:rPr lang="en-US" dirty="0"/>
            </a:br>
            <a:r>
              <a:rPr lang="en-US" dirty="0"/>
              <a:t>• Efficient compression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548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B0BA-A6B0-6AE9-890D-7A3CBEEF9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F3E7-BFF4-1966-46E7-1FCC89FE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Connection vs </a:t>
            </a:r>
            <a:r>
              <a:rPr lang="en-US" dirty="0" err="1"/>
              <a:t>DirectQuery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46300-F1F3-EA9F-0B6E-743111547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333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97397-5C8C-3A83-DFE5-7887DE43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83B79-E3C2-D892-2AE1-54894C01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Tableau Live Connection</a:t>
            </a:r>
          </a:p>
          <a:p>
            <a:r>
              <a:rPr lang="en-US" dirty="0"/>
              <a:t>A live connection allows Tableau dashboards to </a:t>
            </a:r>
            <a:r>
              <a:rPr lang="en-US" b="1" dirty="0"/>
              <a:t>query the database directly in real time</a:t>
            </a:r>
            <a:r>
              <a:rPr lang="en-US" dirty="0"/>
              <a:t>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• No local data storage</a:t>
            </a:r>
            <a:br>
              <a:rPr lang="en-US" dirty="0"/>
            </a:br>
            <a:r>
              <a:rPr lang="en-US" dirty="0"/>
              <a:t>• Always reflects latest data</a:t>
            </a:r>
            <a:br>
              <a:rPr lang="en-US" dirty="0"/>
            </a:br>
            <a:r>
              <a:rPr lang="en-US" dirty="0"/>
              <a:t>• Performance depends on source database</a:t>
            </a:r>
          </a:p>
          <a:p>
            <a:r>
              <a:rPr lang="en-US" dirty="0"/>
              <a:t>Common live data sources:</a:t>
            </a:r>
          </a:p>
          <a:p>
            <a:r>
              <a:rPr lang="en-US" dirty="0"/>
              <a:t>• SQL Server</a:t>
            </a:r>
            <a:br>
              <a:rPr lang="en-US" dirty="0"/>
            </a:br>
            <a:r>
              <a:rPr lang="en-US" dirty="0"/>
              <a:t>• Oracle</a:t>
            </a:r>
            <a:br>
              <a:rPr lang="en-US" dirty="0"/>
            </a:br>
            <a:r>
              <a:rPr lang="en-US" dirty="0"/>
              <a:t>• Snowflake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BigQuery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1162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D60C-F476-F69F-92E9-A0321926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8090-931C-1075-83B5-BEBBDB51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F1D52-BDB8-9133-6F70-A52418485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</a:t>
            </a:r>
            <a:r>
              <a:rPr lang="en-US" b="1" dirty="0" err="1"/>
              <a:t>DirectQuery</a:t>
            </a:r>
            <a:endParaRPr lang="en-US" b="1" dirty="0"/>
          </a:p>
          <a:p>
            <a:r>
              <a:rPr lang="en-US" dirty="0" err="1"/>
              <a:t>DirectQuery</a:t>
            </a:r>
            <a:r>
              <a:rPr lang="en-US" dirty="0"/>
              <a:t> allows Power BI to </a:t>
            </a:r>
            <a:r>
              <a:rPr lang="en-US" b="1" dirty="0"/>
              <a:t>query the data source dynamically instead of importing data</a:t>
            </a:r>
            <a:r>
              <a:rPr lang="en-US" dirty="0"/>
              <a:t>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• Real-time data access</a:t>
            </a:r>
            <a:br>
              <a:rPr lang="en-US" dirty="0"/>
            </a:br>
            <a:r>
              <a:rPr lang="en-US" dirty="0"/>
              <a:t>• Queries executed on the source system</a:t>
            </a:r>
            <a:br>
              <a:rPr lang="en-US" dirty="0"/>
            </a:br>
            <a:r>
              <a:rPr lang="en-US" dirty="0"/>
              <a:t>• Limited modeling features compared to Import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8156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FC979-1912-988A-B03B-072BD75C1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56953-647F-6CB4-52AB-0F519692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Connectivity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AAEC-D1CA-24D7-11CF-0FACCA5BF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710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DF91-46D7-96EF-2DDF-D8F472CBC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469B-6756-F66E-0834-D02EAB413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CF5E2-3DC7-053F-17E5-645547C3F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tools support connectivity with multiple data sources.</a:t>
            </a:r>
          </a:p>
          <a:p>
            <a:r>
              <a:rPr lang="en-US" dirty="0"/>
              <a:t>Common supported sources include:</a:t>
            </a:r>
          </a:p>
          <a:p>
            <a:r>
              <a:rPr lang="en-US" dirty="0"/>
              <a:t>• SQL databases</a:t>
            </a:r>
            <a:br>
              <a:rPr lang="en-US" dirty="0"/>
            </a:br>
            <a:r>
              <a:rPr lang="en-US" dirty="0"/>
              <a:t>• Cloud data warehouses</a:t>
            </a:r>
            <a:br>
              <a:rPr lang="en-US" dirty="0"/>
            </a:br>
            <a:r>
              <a:rPr lang="en-US" dirty="0"/>
              <a:t>• Excel files</a:t>
            </a:r>
            <a:br>
              <a:rPr lang="en-US" dirty="0"/>
            </a:br>
            <a:r>
              <a:rPr lang="en-US" dirty="0"/>
              <a:t>• CSV datasets</a:t>
            </a:r>
            <a:br>
              <a:rPr lang="en-US" dirty="0"/>
            </a:br>
            <a:r>
              <a:rPr lang="en-US" dirty="0"/>
              <a:t>• APIs and web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09516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72B6-DFD8-67A6-EDB2-9CB92167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BADB-A88A-4BF3-71E3-FCE9491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71A14-C7A5-CC88-94C8-4F95C1B29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Power BI Strength</a:t>
            </a:r>
          </a:p>
          <a:p>
            <a:r>
              <a:rPr lang="en-US" dirty="0"/>
              <a:t>Power BI has strong integration with Microsoft ecosystem:</a:t>
            </a:r>
          </a:p>
          <a:p>
            <a:r>
              <a:rPr lang="en-US" dirty="0"/>
              <a:t>• Azure SQL</a:t>
            </a:r>
            <a:br>
              <a:rPr lang="en-US" dirty="0"/>
            </a:br>
            <a:r>
              <a:rPr lang="en-US" dirty="0"/>
              <a:t>• Azure Synapse</a:t>
            </a:r>
            <a:br>
              <a:rPr lang="en-US" dirty="0"/>
            </a:br>
            <a:r>
              <a:rPr lang="en-US" dirty="0"/>
              <a:t>• SharePoint</a:t>
            </a:r>
            <a:br>
              <a:rPr lang="en-US" dirty="0"/>
            </a:br>
            <a:r>
              <a:rPr lang="en-US" dirty="0"/>
              <a:t>• OneDrive</a:t>
            </a:r>
            <a:br>
              <a:rPr lang="en-US" dirty="0"/>
            </a:br>
            <a:r>
              <a:rPr lang="en-US" dirty="0"/>
              <a:t>• Microsoft Fabric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218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0D2F-FFE0-B8EF-4F7D-EE8DC703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49EC-3841-881D-1CEE-DD807A14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Processing Engines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AA0F2-1DD5-F595-28E2-AD34AB7E8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Tableau Data Engine</a:t>
            </a:r>
          </a:p>
          <a:p>
            <a:r>
              <a:rPr lang="en-US" dirty="0"/>
              <a:t>Tableau uses the </a:t>
            </a:r>
            <a:r>
              <a:rPr lang="en-US" b="1" dirty="0"/>
              <a:t>Hyper engine</a:t>
            </a:r>
            <a:r>
              <a:rPr lang="en-US" dirty="0"/>
              <a:t> for processing extracts.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• High-speed columnar database</a:t>
            </a:r>
            <a:br>
              <a:rPr lang="en-US" dirty="0"/>
            </a:br>
            <a:r>
              <a:rPr lang="en-US" dirty="0"/>
              <a:t>• Optimized for analytics workloads</a:t>
            </a:r>
            <a:br>
              <a:rPr lang="en-US" dirty="0"/>
            </a:br>
            <a:r>
              <a:rPr lang="en-US" dirty="0"/>
              <a:t>• Efficient compression</a:t>
            </a:r>
          </a:p>
          <a:p>
            <a:endParaRPr lang="en-US" dirty="0"/>
          </a:p>
          <a:p>
            <a:r>
              <a:rPr lang="en-US" b="1" dirty="0"/>
              <a:t>Power BI Data Engine</a:t>
            </a:r>
          </a:p>
          <a:p>
            <a:r>
              <a:rPr lang="en-US" dirty="0"/>
              <a:t>Power BI uses the </a:t>
            </a:r>
            <a:r>
              <a:rPr lang="en-US" b="1" dirty="0" err="1"/>
              <a:t>VertiPaq</a:t>
            </a:r>
            <a:r>
              <a:rPr lang="en-US" b="1" dirty="0"/>
              <a:t> engine</a:t>
            </a:r>
            <a:r>
              <a:rPr lang="en-US" dirty="0"/>
              <a:t>.</a:t>
            </a:r>
          </a:p>
          <a:p>
            <a:r>
              <a:rPr lang="en-US" dirty="0"/>
              <a:t>Features:</a:t>
            </a:r>
          </a:p>
          <a:p>
            <a:r>
              <a:rPr lang="en-US" dirty="0"/>
              <a:t>• In-memory analytics engine</a:t>
            </a:r>
            <a:br>
              <a:rPr lang="en-US" dirty="0"/>
            </a:br>
            <a:r>
              <a:rPr lang="en-US" dirty="0"/>
              <a:t>• Columnar storage</a:t>
            </a:r>
            <a:br>
              <a:rPr lang="en-US" dirty="0"/>
            </a:br>
            <a:r>
              <a:rPr lang="en-US" dirty="0"/>
              <a:t>• High compression rates</a:t>
            </a:r>
            <a:br>
              <a:rPr lang="en-US" dirty="0"/>
            </a:br>
            <a:r>
              <a:rPr lang="en-US" dirty="0"/>
              <a:t>• Fast query execution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5755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A54E-C4E9-DD3B-1570-B512C4184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B883-9669-D951-1C1C-9A21947B3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23562-46D8-A14C-0B2E-97CEFD4D4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2723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2628-DC56-5325-099D-7CD2A1B4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8B7F-92AE-658A-8ABA-A0F6950E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B4826-D703-7938-A220-61E7460A6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Tableau Deployment</a:t>
            </a:r>
          </a:p>
          <a:p>
            <a:r>
              <a:rPr lang="en-US" dirty="0"/>
              <a:t>• Tableau Desktop (development)</a:t>
            </a:r>
            <a:br>
              <a:rPr lang="en-US" dirty="0"/>
            </a:br>
            <a:r>
              <a:rPr lang="en-US" dirty="0"/>
              <a:t>• Tableau Server (on-premise deployment)</a:t>
            </a:r>
            <a:br>
              <a:rPr lang="en-US" dirty="0"/>
            </a:br>
            <a:r>
              <a:rPr lang="en-US" dirty="0"/>
              <a:t>• Tableau Online (cloud deployment)</a:t>
            </a:r>
          </a:p>
          <a:p>
            <a:r>
              <a:rPr lang="en-US" b="1" dirty="0"/>
              <a:t>Power BI Deployment</a:t>
            </a:r>
          </a:p>
          <a:p>
            <a:r>
              <a:rPr lang="en-US" dirty="0"/>
              <a:t>• Power BI Desktop (development)</a:t>
            </a:r>
            <a:br>
              <a:rPr lang="en-US" dirty="0"/>
            </a:br>
            <a:r>
              <a:rPr lang="en-US" dirty="0"/>
              <a:t>• Power BI Service (cloud platform)</a:t>
            </a:r>
            <a:br>
              <a:rPr lang="en-US" dirty="0"/>
            </a:br>
            <a:r>
              <a:rPr lang="en-US" dirty="0"/>
              <a:t>• Power BI Report Server (on-premise option)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35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F4FB8-DDAB-3C4F-A55E-4C4EED8D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3A8717-30BB-2087-E67F-4239C660C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88884"/>
              </p:ext>
            </p:extLst>
          </p:nvPr>
        </p:nvGraphicFramePr>
        <p:xfrm>
          <a:off x="1096963" y="2525554"/>
          <a:ext cx="100584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78315668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7913858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457468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Component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Tableau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BI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6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Tableau Desktop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 BI Desktop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821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Publishing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Tableau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 BI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9830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Local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(.hyper)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Import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698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Live Data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Live Connection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DirectQuery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9820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Engine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Hyper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VertiPaq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07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Cloud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Tableau Online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 BI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571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On-Premise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Tableau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Power BI Report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7743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19573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868D-5D9E-360D-8008-7F37C56D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823D-7181-2AEB-EC10-2C016E92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ED20-14B3-F1B1-C8B8-AA47340E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7544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2828-0D94-6EBE-AA1A-4514D547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2C85-DC03-EE2D-D18F-D87BFD4E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8A9A-EFE9-C356-E487-2774FC25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157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7C16-5ECB-AF55-E29F-3222024F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5313-8884-6628-9747-7405C8BF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D54C3-BC63-162F-318D-7BBF4E4A8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301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9A39A-FDEF-780F-B232-7CBB4041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FE28-C4EA-1C4F-A0D5-18F341EC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C08F7-0693-6924-7863-44A2AD44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2792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07571-8A0E-355F-520D-D5A62330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4780C-C119-2A01-AC5F-3B75AFC6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E2457-F9DB-226C-5CB6-E15537DED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4484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A365-9270-3820-BF54-8D9890384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1DAE-2F47-D7D0-ECBC-EC22F67BC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9F59-C950-B8A6-6952-CB3422E3E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461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59B9-1C9F-CF3B-FFBD-97598CB8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8E0D-B67E-B9AA-E9CC-ACCB255C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5CAAD-31BF-5A61-A4C1-EFB1387B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1590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{0772E1A3-BBB9-474A-AAC2-0B912B5374BC}TF427093bb-7ddc-497b-80f4-fe945bcee621ff7241c0_win32-add2936a5c77</Template>
  <TotalTime>436</TotalTime>
  <Words>2604</Words>
  <Application>Microsoft Office PowerPoint</Application>
  <PresentationFormat>Widescreen</PresentationFormat>
  <Paragraphs>375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0" baseType="lpstr">
      <vt:lpstr>Arial Black</vt:lpstr>
      <vt:lpstr>Bookman Old Style</vt:lpstr>
      <vt:lpstr>Calibri</vt:lpstr>
      <vt:lpstr>Courier New</vt:lpstr>
      <vt:lpstr>Franklin Gothic Book</vt:lpstr>
      <vt:lpstr>Wingdings</vt:lpstr>
      <vt:lpstr>1_RetrospectVTI</vt:lpstr>
      <vt:lpstr>PowerPoint Presentation</vt:lpstr>
      <vt:lpstr>Table of Content</vt:lpstr>
      <vt:lpstr>Day 01’s Agenda</vt:lpstr>
      <vt:lpstr>Migration Overview</vt:lpstr>
      <vt:lpstr>Module 1 – Migration Overview</vt:lpstr>
      <vt:lpstr>Migration Overview</vt:lpstr>
      <vt:lpstr>What is BI Platform Migration?</vt:lpstr>
      <vt:lpstr>Business Intelligence Migration</vt:lpstr>
      <vt:lpstr>Why Organizations Use BI Tools</vt:lpstr>
      <vt:lpstr>Why Companies Migrate from Tableau to Power BI</vt:lpstr>
      <vt:lpstr>PowerPoint Presentation</vt:lpstr>
      <vt:lpstr>Key Business Drivers for Migration</vt:lpstr>
      <vt:lpstr>Migration Scenarios</vt:lpstr>
      <vt:lpstr>Scenario 1 – Full Migration</vt:lpstr>
      <vt:lpstr>Scenario 2 – Partial Migration </vt:lpstr>
      <vt:lpstr>Scenario 3 – Gradual Migration </vt:lpstr>
      <vt:lpstr>When Migration is Needed</vt:lpstr>
      <vt:lpstr>What Gets Migrated?</vt:lpstr>
      <vt:lpstr>PowerPoint Presentation</vt:lpstr>
      <vt:lpstr>Migration Process Overview</vt:lpstr>
      <vt:lpstr>Challenges in Migration</vt:lpstr>
      <vt:lpstr>PowerPoint Presentation</vt:lpstr>
      <vt:lpstr>Migration is Not a File Transfer</vt:lpstr>
      <vt:lpstr>Benefits After Migration</vt:lpstr>
      <vt:lpstr>Module 2 – Tableau Fundamentals for Power BI Users</vt:lpstr>
      <vt:lpstr>Module 2 – Tableau Fundamentals for Power BI Users</vt:lpstr>
      <vt:lpstr>Understanding Tableau Architecture</vt:lpstr>
      <vt:lpstr>PowerPoint Presentation</vt:lpstr>
      <vt:lpstr>PowerPoint Presentation</vt:lpstr>
      <vt:lpstr>Worksheet vs Visual</vt:lpstr>
      <vt:lpstr>PowerPoint Presentation</vt:lpstr>
      <vt:lpstr>PowerPoint Presentation</vt:lpstr>
      <vt:lpstr>Dashboard vs Report Page</vt:lpstr>
      <vt:lpstr>PowerPoint Presentation</vt:lpstr>
      <vt:lpstr>PowerPoint Presentation</vt:lpstr>
      <vt:lpstr>Story vs Presentation Layer</vt:lpstr>
      <vt:lpstr>PowerPoint Presentation</vt:lpstr>
      <vt:lpstr>PowerPoint Presentation</vt:lpstr>
      <vt:lpstr>Extract vs Import Dataset</vt:lpstr>
      <vt:lpstr>PowerPoint Presentation</vt:lpstr>
      <vt:lpstr>PowerPoint Presentation</vt:lpstr>
      <vt:lpstr>Tableau Server vs Power BI Service</vt:lpstr>
      <vt:lpstr>PowerPoint Presentation</vt:lpstr>
      <vt:lpstr>PowerPoint Presentation</vt:lpstr>
      <vt:lpstr>Why This Mapping Matters for Migration</vt:lpstr>
      <vt:lpstr>PowerPoint Presentation</vt:lpstr>
      <vt:lpstr>Tableau Interface Explained for Power BI Users</vt:lpstr>
      <vt:lpstr>Main Components of Tableau Interface</vt:lpstr>
      <vt:lpstr>PowerPoint Presentation</vt:lpstr>
      <vt:lpstr>Data Pane</vt:lpstr>
      <vt:lpstr>PowerPoint Presentation</vt:lpstr>
      <vt:lpstr>Rows and Columns Shelves</vt:lpstr>
      <vt:lpstr>PowerPoint Presentation</vt:lpstr>
      <vt:lpstr>Marks Card</vt:lpstr>
      <vt:lpstr>PowerPoint Presentation</vt:lpstr>
      <vt:lpstr>Filters Shelf</vt:lpstr>
      <vt:lpstr>PowerPoint Presentation</vt:lpstr>
      <vt:lpstr>Show Me Panel</vt:lpstr>
      <vt:lpstr>PowerPoint Presentation</vt:lpstr>
      <vt:lpstr>Visualization Canvas</vt:lpstr>
      <vt:lpstr>PowerPoint Presentation</vt:lpstr>
      <vt:lpstr>Dashboard Layout Panel</vt:lpstr>
      <vt:lpstr>PowerPoint Presentation</vt:lpstr>
      <vt:lpstr>PowerPoint Presentation</vt:lpstr>
      <vt:lpstr>PowerPoint Presentation</vt:lpstr>
      <vt:lpstr>PowerPoint Presentation</vt:lpstr>
      <vt:lpstr>Understanding BI Platform Architecture</vt:lpstr>
      <vt:lpstr>PowerPoint Presentation</vt:lpstr>
      <vt:lpstr>High-Level Architecture Overview</vt:lpstr>
      <vt:lpstr>PowerPoint Presentation</vt:lpstr>
      <vt:lpstr>Tableau Server vs Power BI Service</vt:lpstr>
      <vt:lpstr>PowerPoint Presentation</vt:lpstr>
      <vt:lpstr>PowerPoint Presentation</vt:lpstr>
      <vt:lpstr>Tableau Extract vs Power BI Import</vt:lpstr>
      <vt:lpstr>PowerPoint Presentation</vt:lpstr>
      <vt:lpstr>PowerPoint Presentation</vt:lpstr>
      <vt:lpstr>Live Connection vs DirectQuery</vt:lpstr>
      <vt:lpstr>PowerPoint Presentation</vt:lpstr>
      <vt:lpstr>PowerPoint Presentation</vt:lpstr>
      <vt:lpstr>Data Connectivity Comparison</vt:lpstr>
      <vt:lpstr>PowerPoint Presentation</vt:lpstr>
      <vt:lpstr>PowerPoint Presentation</vt:lpstr>
      <vt:lpstr>Data Processing Engines </vt:lpstr>
      <vt:lpstr>Deployment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Harmeet Sehra</dc:creator>
  <cp:lastModifiedBy>Harmeet Sehra</cp:lastModifiedBy>
  <cp:revision>169</cp:revision>
  <dcterms:created xsi:type="dcterms:W3CDTF">2026-03-15T10:40:27Z</dcterms:created>
  <dcterms:modified xsi:type="dcterms:W3CDTF">2026-03-16T12:39:49Z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