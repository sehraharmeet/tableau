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55"/>
  </p:notesMasterIdLst>
  <p:sldIdLst>
    <p:sldId id="268" r:id="rId5"/>
    <p:sldId id="310" r:id="rId6"/>
    <p:sldId id="421" r:id="rId7"/>
    <p:sldId id="311" r:id="rId8"/>
    <p:sldId id="375" r:id="rId9"/>
    <p:sldId id="376" r:id="rId10"/>
    <p:sldId id="377" r:id="rId11"/>
    <p:sldId id="378" r:id="rId12"/>
    <p:sldId id="379" r:id="rId13"/>
    <p:sldId id="380" r:id="rId14"/>
    <p:sldId id="382" r:id="rId15"/>
    <p:sldId id="383" r:id="rId16"/>
    <p:sldId id="384" r:id="rId17"/>
    <p:sldId id="422" r:id="rId18"/>
    <p:sldId id="423" r:id="rId19"/>
    <p:sldId id="385" r:id="rId20"/>
    <p:sldId id="386" r:id="rId21"/>
    <p:sldId id="387" r:id="rId22"/>
    <p:sldId id="388" r:id="rId23"/>
    <p:sldId id="389" r:id="rId24"/>
    <p:sldId id="390" r:id="rId25"/>
    <p:sldId id="391" r:id="rId26"/>
    <p:sldId id="392" r:id="rId27"/>
    <p:sldId id="393" r:id="rId28"/>
    <p:sldId id="394" r:id="rId29"/>
    <p:sldId id="395" r:id="rId30"/>
    <p:sldId id="396" r:id="rId31"/>
    <p:sldId id="397" r:id="rId32"/>
    <p:sldId id="398" r:id="rId33"/>
    <p:sldId id="399" r:id="rId34"/>
    <p:sldId id="418" r:id="rId35"/>
    <p:sldId id="419" r:id="rId36"/>
    <p:sldId id="420" r:id="rId37"/>
    <p:sldId id="400" r:id="rId38"/>
    <p:sldId id="401" r:id="rId39"/>
    <p:sldId id="402" r:id="rId40"/>
    <p:sldId id="403" r:id="rId41"/>
    <p:sldId id="404" r:id="rId42"/>
    <p:sldId id="405" r:id="rId43"/>
    <p:sldId id="406" r:id="rId44"/>
    <p:sldId id="424" r:id="rId45"/>
    <p:sldId id="407" r:id="rId46"/>
    <p:sldId id="408" r:id="rId47"/>
    <p:sldId id="409" r:id="rId48"/>
    <p:sldId id="410" r:id="rId49"/>
    <p:sldId id="411" r:id="rId50"/>
    <p:sldId id="415" r:id="rId51"/>
    <p:sldId id="416" r:id="rId52"/>
    <p:sldId id="417" r:id="rId53"/>
    <p:sldId id="381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410A"/>
    <a:srgbClr val="EAC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81" autoAdjust="0"/>
    <p:restoredTop sz="95186" autoAdjust="0"/>
  </p:normalViewPr>
  <p:slideViewPr>
    <p:cSldViewPr snapToGrid="0">
      <p:cViewPr varScale="1">
        <p:scale>
          <a:sx n="86" d="100"/>
          <a:sy n="86" d="100"/>
        </p:scale>
        <p:origin x="456" y="9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234FD-4F72-4490-AB50-71771B97736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4290DB-A257-48A5-B4F3-632B33598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04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4290DB-A257-48A5-B4F3-632B335981F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141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👉 Tableau auto-</a:t>
            </a:r>
            <a:r>
              <a:rPr lang="fr-FR" dirty="0" err="1"/>
              <a:t>aggregates</a:t>
            </a:r>
            <a:br>
              <a:rPr lang="fr-FR" dirty="0"/>
            </a:br>
            <a:r>
              <a:rPr lang="fr-FR" dirty="0"/>
              <a:t>👉 DAX </a:t>
            </a:r>
            <a:r>
              <a:rPr lang="fr-FR" dirty="0" err="1"/>
              <a:t>requires</a:t>
            </a:r>
            <a:r>
              <a:rPr lang="fr-FR" dirty="0"/>
              <a:t> </a:t>
            </a:r>
            <a:r>
              <a:rPr lang="fr-FR" b="1" dirty="0"/>
              <a:t>explicit </a:t>
            </a:r>
            <a:r>
              <a:rPr lang="fr-FR" b="1" dirty="0" err="1"/>
              <a:t>aggregation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4290DB-A257-48A5-B4F3-632B335981F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80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👉 Key Difference:</a:t>
            </a:r>
          </a:p>
          <a:p>
            <a:r>
              <a:rPr lang="en-US" dirty="0"/>
              <a:t>Tableau → done in </a:t>
            </a:r>
            <a:r>
              <a:rPr lang="en-US" b="1" dirty="0"/>
              <a:t>visual layer</a:t>
            </a:r>
            <a:endParaRPr lang="en-US" dirty="0"/>
          </a:p>
          <a:p>
            <a:r>
              <a:rPr lang="en-US" dirty="0"/>
              <a:t>Power BI → done using </a:t>
            </a:r>
            <a:r>
              <a:rPr lang="en-US" b="1" dirty="0"/>
              <a:t>DAX measures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4290DB-A257-48A5-B4F3-632B335981F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91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478E9F1-78CB-3C09-8784-F102EF3416D1}"/>
              </a:ext>
            </a:extLst>
          </p:cNvPr>
          <p:cNvSpPr/>
          <p:nvPr/>
        </p:nvSpPr>
        <p:spPr>
          <a:xfrm>
            <a:off x="684336" y="4098875"/>
            <a:ext cx="11112500" cy="800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06FE400-464F-B185-4F6D-3EC2ABCDA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914" y="326643"/>
            <a:ext cx="9168171" cy="6112114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54CF3C40-8FA6-186E-4746-A85C6D68800F}"/>
              </a:ext>
            </a:extLst>
          </p:cNvPr>
          <p:cNvSpPr txBox="1">
            <a:spLocks/>
          </p:cNvSpPr>
          <p:nvPr/>
        </p:nvSpPr>
        <p:spPr>
          <a:xfrm>
            <a:off x="3014149" y="5815520"/>
            <a:ext cx="6989748" cy="4463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1">
                <a:solidFill>
                  <a:srgbClr val="52410A"/>
                </a:solidFill>
                <a:latin typeface="Arial Black" panose="020B0A04020102020204" pitchFamily="34" charset="0"/>
              </a:rPr>
              <a:t>Harmeet Singh Sehra</a:t>
            </a:r>
            <a:endParaRPr lang="en-US" b="1" dirty="0">
              <a:solidFill>
                <a:srgbClr val="52410A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1116AD-9F26-380B-DCEA-29944B4D19B2}"/>
              </a:ext>
            </a:extLst>
          </p:cNvPr>
          <p:cNvSpPr/>
          <p:nvPr/>
        </p:nvSpPr>
        <p:spPr>
          <a:xfrm>
            <a:off x="10205103" y="1961163"/>
            <a:ext cx="1433406" cy="264687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6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FE80ED-1393-E782-06BA-FF2E4DDC8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60874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Table of Content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4B522-58FA-4C02-439C-7A48D4EC2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AD3B8C-64EA-1623-7D30-08A173FB2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1274"/>
            <a:ext cx="12192000" cy="443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46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DBBCB-5F64-8C08-8DA0-8E71EB1BA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50E2A-C17A-9F7D-2EBE-F84612B73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Migration scenarios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migration is needed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Challenges in migration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Discussion: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Enterprise BI standardization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Licensing &amp; ecosystem considerations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Tableau Concept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Worksheet, Dashboard, Story, </a:t>
            </a:r>
            <a:r>
              <a:rPr lang="en-US" b="1" dirty="0"/>
              <a:t>Shelves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b="1" dirty="0"/>
              <a:t>Marks Card, Filters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dirty="0"/>
              <a:t>Show Me Panel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Main Components of Tableau Interface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001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92F29-02F5-7DD7-D2F0-667592395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Day 02’s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A35D6-A411-4285-8147-24D2E9C2B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792" y="2037923"/>
            <a:ext cx="4702102" cy="3760891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Module 4 – Data Modeling Migration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Topics: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Tableau data sources vs Power BI datasets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Relationship modeling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Cardinality differences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Star schema approach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Performance considerations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56296B-1F37-C771-3890-1594E3F63FCF}"/>
              </a:ext>
            </a:extLst>
          </p:cNvPr>
          <p:cNvSpPr txBox="1"/>
          <p:nvPr/>
        </p:nvSpPr>
        <p:spPr>
          <a:xfrm>
            <a:off x="5689660" y="2037923"/>
            <a:ext cx="5350646" cy="313932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dirty="0"/>
              <a:t>Module 5 – Converting Tableau Calculations to DAX</a:t>
            </a:r>
          </a:p>
          <a:p>
            <a:endParaRPr lang="en-US" dirty="0"/>
          </a:p>
          <a:p>
            <a:r>
              <a:rPr lang="en-US" dirty="0"/>
              <a:t>Topics:</a:t>
            </a:r>
          </a:p>
          <a:p>
            <a:pPr lvl="0"/>
            <a:r>
              <a:rPr lang="en-US" dirty="0"/>
              <a:t>Understanding Calculation Engines</a:t>
            </a:r>
          </a:p>
          <a:p>
            <a:pPr lvl="0"/>
            <a:r>
              <a:rPr lang="en-US" dirty="0"/>
              <a:t>Tableau calculated fields vs DAX</a:t>
            </a:r>
          </a:p>
          <a:p>
            <a:pPr lvl="0"/>
            <a:r>
              <a:rPr lang="en-US" dirty="0"/>
              <a:t>Aggregations</a:t>
            </a:r>
          </a:p>
          <a:p>
            <a:pPr lvl="0"/>
            <a:r>
              <a:rPr lang="en-US" dirty="0"/>
              <a:t>LOD expressions</a:t>
            </a:r>
          </a:p>
          <a:p>
            <a:pPr lvl="0"/>
            <a:r>
              <a:rPr lang="en-US" dirty="0"/>
              <a:t>Table calculations</a:t>
            </a:r>
          </a:p>
          <a:p>
            <a:pPr lvl="0"/>
            <a:r>
              <a:rPr lang="en-US" dirty="0"/>
              <a:t>Filter vs row context</a:t>
            </a:r>
          </a:p>
          <a:p>
            <a:pPr lvl="0"/>
            <a:r>
              <a:rPr lang="en-US" dirty="0"/>
              <a:t>Time Intelligence Migration</a:t>
            </a:r>
          </a:p>
          <a:p>
            <a:pPr lvl="0"/>
            <a:r>
              <a:rPr lang="en-US" dirty="0"/>
              <a:t>Basic Calculations Conversion</a:t>
            </a:r>
          </a:p>
        </p:txBody>
      </p:sp>
    </p:spTree>
    <p:extLst>
      <p:ext uri="{BB962C8B-B14F-4D97-AF65-F5344CB8AC3E}">
        <p14:creationId xmlns:p14="http://schemas.microsoft.com/office/powerpoint/2010/main" val="1187843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C868D-5D9E-360D-8008-7F37C56DA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1823D-7181-2AEB-EC10-2C016E921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Modeling Migration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7ED20-14B3-F1B1-C8B8-AA47340E7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75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D2828-0D94-6EBE-AA1A-4514D5477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72C85-DC03-EE2D-D18F-D87BFD4E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Tableau Data Sources vs Power BI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98A9A-EFE9-C356-E487-2774FC254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115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D7C16-5ECB-AF55-E29F-3222024FD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75313-8884-6628-9747-7405C8BF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Tableau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D54C3-BC63-162F-318D-7BBF4E4A8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Tableau, the </a:t>
            </a:r>
            <a:r>
              <a:rPr lang="en-US" b="1" dirty="0"/>
              <a:t>Data Source</a:t>
            </a:r>
            <a:r>
              <a:rPr lang="en-US" dirty="0"/>
              <a:t> is where connections and joins are defined.</a:t>
            </a:r>
          </a:p>
          <a:p>
            <a:r>
              <a:rPr lang="en-US" dirty="0"/>
              <a:t>Features: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Connects to databases, Excel, CSV, APIs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Supports </a:t>
            </a:r>
            <a:r>
              <a:rPr lang="en-US" b="1" dirty="0"/>
              <a:t>Live connection</a:t>
            </a:r>
            <a:r>
              <a:rPr lang="en-US" dirty="0"/>
              <a:t> or </a:t>
            </a:r>
            <a:r>
              <a:rPr lang="en-US" b="1" dirty="0"/>
              <a:t>Extract (.hyper)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Joins, unions, and relationships configured in the </a:t>
            </a:r>
            <a:r>
              <a:rPr lang="en-US" b="1" dirty="0"/>
              <a:t>Data Source tab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Tableau usually builds a </a:t>
            </a:r>
            <a:r>
              <a:rPr lang="en-US" b="1" dirty="0"/>
              <a:t>logical layer</a:t>
            </a:r>
            <a:r>
              <a:rPr lang="en-US" dirty="0"/>
              <a:t> automatically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630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9A39A-FDEF-780F-B232-7CBB40419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5FE28-C4EA-1C4F-A0D5-18F341EC4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Power BI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C08F7-0693-6924-7863-44A2AD444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Power BI, the equivalent concept is a </a:t>
            </a:r>
            <a:r>
              <a:rPr lang="en-US" b="1" dirty="0"/>
              <a:t>Dataset / Semantic Model</a:t>
            </a:r>
            <a:r>
              <a:rPr lang="en-US" dirty="0"/>
              <a:t>.</a:t>
            </a:r>
          </a:p>
          <a:p>
            <a:r>
              <a:rPr lang="en-US" dirty="0"/>
              <a:t>Features:</a:t>
            </a:r>
          </a:p>
          <a:p>
            <a:r>
              <a:rPr lang="en-US" dirty="0"/>
              <a:t>Data imported or </a:t>
            </a:r>
            <a:r>
              <a:rPr lang="en-US" dirty="0" err="1"/>
              <a:t>DirectQuery</a:t>
            </a:r>
            <a:endParaRPr lang="en-US" dirty="0"/>
          </a:p>
          <a:p>
            <a:r>
              <a:rPr lang="en-US" dirty="0"/>
              <a:t>Transformations done in </a:t>
            </a:r>
            <a:r>
              <a:rPr lang="en-US" b="1" dirty="0"/>
              <a:t>Power Query</a:t>
            </a:r>
            <a:endParaRPr lang="en-US" dirty="0"/>
          </a:p>
          <a:p>
            <a:r>
              <a:rPr lang="en-US" dirty="0"/>
              <a:t>Relationships managed in </a:t>
            </a:r>
            <a:r>
              <a:rPr lang="en-US" b="1" dirty="0"/>
              <a:t>Model View</a:t>
            </a:r>
            <a:endParaRPr lang="en-US" dirty="0"/>
          </a:p>
          <a:p>
            <a:r>
              <a:rPr lang="en-US" dirty="0"/>
              <a:t>Supports </a:t>
            </a:r>
            <a:r>
              <a:rPr lang="en-US" b="1" dirty="0"/>
              <a:t>DAX calculations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927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07571-8A0E-355F-520D-D5A62330A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4780C-C119-2A01-AC5F-3B75AFC6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A5F93A-FF3B-3B9A-6D07-915196C853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6766188"/>
              </p:ext>
            </p:extLst>
          </p:nvPr>
        </p:nvGraphicFramePr>
        <p:xfrm>
          <a:off x="1096963" y="3257074"/>
          <a:ext cx="10058400" cy="146304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121599229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5025909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Tableau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Power BI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168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4211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Relationships optional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Relationships mandatory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222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Calculations mostly at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Calculations mostly at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7156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8544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2A365-9270-3820-BF54-8D9890384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F1DAE-2F47-D7D0-ECBC-EC22F67BC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F9F59-C950-B8A6-6952-CB3422E3E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346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6F1E7-A098-E7BF-6C78-A787B26A6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CAE90-43D1-C490-D4AB-F35900836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Tableau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75A9F-16B8-E3A4-B0C9-C3EB34C14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Tableau introduced </a:t>
            </a:r>
            <a:r>
              <a:rPr lang="en-US" b="1" dirty="0"/>
              <a:t>Relationships (Logical Layer)</a:t>
            </a:r>
            <a:r>
              <a:rPr lang="en-US" dirty="0"/>
              <a:t>.</a:t>
            </a:r>
          </a:p>
          <a:p>
            <a:r>
              <a:rPr lang="en-US" dirty="0"/>
              <a:t>Characteristics: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Tables remain separate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Relationships defined using matching keys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Tableau decides join behavior dynamically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152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8FB7F-ECC0-31A6-0EBA-B77E79058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7A1D7-097F-13A1-F7D7-14C2586AE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Power BI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C958F-CBBE-1C67-A58C-B04BBB4E5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Power BI requires </a:t>
            </a:r>
            <a:r>
              <a:rPr lang="en-US" b="1" dirty="0"/>
              <a:t>explicit relationships</a:t>
            </a:r>
            <a:r>
              <a:rPr lang="en-US" dirty="0"/>
              <a:t>.</a:t>
            </a:r>
          </a:p>
          <a:p>
            <a:r>
              <a:rPr lang="en-US" dirty="0"/>
              <a:t>You define: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Primary Key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Foreign Key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Relationship type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622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8752A-6B2F-1E42-1D70-93625918A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00AFB-BF44-6421-93DA-D1F8C22D4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589A4-398D-C158-B857-852AE7262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65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D8CA9-C59F-593D-5516-0F9685098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Retail Sales Analysis-Phase-1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F597A-80C7-7346-AEAA-5C44751AA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3918473" cy="376089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Sheet 1: Sales by Region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Chart: Bar Chart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Rows → Region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Columns → SUM(Sales)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Sheet 2: Sales by Category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Chart: Pie Chart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Category vs Sales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Sheet 3: Monthly Sales Trend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Line Chart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</a:t>
            </a:r>
            <a:r>
              <a:rPr lang="en-US" dirty="0" err="1"/>
              <a:t>OrderDate</a:t>
            </a:r>
            <a:r>
              <a:rPr lang="en-US" dirty="0"/>
              <a:t> (Month) vs Sales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29A21-2544-7CDC-EAFA-1BB463DFA140}"/>
              </a:ext>
            </a:extLst>
          </p:cNvPr>
          <p:cNvSpPr txBox="1"/>
          <p:nvPr/>
        </p:nvSpPr>
        <p:spPr>
          <a:xfrm>
            <a:off x="5817535" y="2108201"/>
            <a:ext cx="6094878" cy="2389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Sheet 4: </a:t>
            </a:r>
            <a:r>
              <a:rPr lang="en-US"/>
              <a:t>Top 5 </a:t>
            </a:r>
            <a:r>
              <a:rPr lang="en-US" dirty="0"/>
              <a:t>Customers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</a:t>
            </a:r>
            <a:r>
              <a:rPr lang="en-US" dirty="0" err="1"/>
              <a:t>CustomerName</a:t>
            </a:r>
            <a:r>
              <a:rPr lang="en-US" dirty="0"/>
              <a:t> vs Sales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Apply Top 5 filter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Sheet 5: Profit vs Sales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Scatter Plot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Sales vs Profit</a:t>
            </a:r>
          </a:p>
        </p:txBody>
      </p:sp>
    </p:spTree>
    <p:extLst>
      <p:ext uri="{BB962C8B-B14F-4D97-AF65-F5344CB8AC3E}">
        <p14:creationId xmlns:p14="http://schemas.microsoft.com/office/powerpoint/2010/main" val="3843174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53682-5054-F11B-E8CF-44D6D374A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B4BF0-937D-37FA-74D8-5DF04A2C6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Retail Sales Analysis-Phase-2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5D7DA-3D18-1F57-075B-7385E5415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3918473" cy="376089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Dashboard Creation</a:t>
            </a:r>
          </a:p>
        </p:txBody>
      </p:sp>
    </p:spTree>
    <p:extLst>
      <p:ext uri="{BB962C8B-B14F-4D97-AF65-F5344CB8AC3E}">
        <p14:creationId xmlns:p14="http://schemas.microsoft.com/office/powerpoint/2010/main" val="2110600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F87FB-78DE-A7FE-3880-3CA628BC8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5945C-5F6D-09BB-8B7E-12D066BBE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Cardinality Differences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3119F-3ABD-A518-F229-C67B0AC0B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170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65691-6F2D-76C9-A22C-3FFBF832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38E90-6660-ECEA-CA29-0A24C586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106F2-6E9D-0BEC-8399-8FC1DAB8D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Cardinality describes </a:t>
            </a:r>
            <a:r>
              <a:rPr lang="en-US" b="1" dirty="0"/>
              <a:t>how tables relate</a:t>
            </a:r>
            <a:r>
              <a:rPr lang="en-US" dirty="0"/>
              <a:t>.</a:t>
            </a:r>
          </a:p>
          <a:p>
            <a:r>
              <a:rPr lang="en-US" b="1" dirty="0"/>
              <a:t>Tableau</a:t>
            </a:r>
          </a:p>
          <a:p>
            <a:r>
              <a:rPr lang="en-US" dirty="0"/>
              <a:t>Cardinality is mostly </a:t>
            </a:r>
            <a:r>
              <a:rPr lang="en-US" b="1" dirty="0"/>
              <a:t>hidden from the user</a:t>
            </a:r>
            <a:r>
              <a:rPr lang="en-US" dirty="0"/>
              <a:t>.</a:t>
            </a:r>
          </a:p>
          <a:p>
            <a:r>
              <a:rPr lang="en-US" dirty="0"/>
              <a:t>Relationships determine join behavior automatically.</a:t>
            </a:r>
          </a:p>
          <a:p>
            <a:r>
              <a:rPr lang="en-US" b="1" dirty="0"/>
              <a:t>Power BI</a:t>
            </a:r>
          </a:p>
          <a:p>
            <a:r>
              <a:rPr lang="en-US" dirty="0"/>
              <a:t>Cardinality must be defined.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651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61C0E-9DD7-E1AB-1F9D-D5568EF6A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54B89-AA58-E58F-DDB5-33712E58A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Star Schema Approach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1F204-54E3-15D3-1A5C-901F89E32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Power BI strongly prefers </a:t>
            </a:r>
            <a:r>
              <a:rPr lang="en-US" b="1" dirty="0"/>
              <a:t>Star Schema modeling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31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6D6F0-0BD6-E8E2-6181-A4C1F67A5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BC02B-23FE-F4DB-B99A-FF63F30E9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Performance Considerations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8F54F-DCB0-71CC-9236-A833D57EC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Tableau Performance</a:t>
            </a:r>
          </a:p>
          <a:p>
            <a:r>
              <a:rPr lang="en-US" dirty="0"/>
              <a:t>Performance affected by:</a:t>
            </a:r>
          </a:p>
          <a:p>
            <a:r>
              <a:rPr lang="en-US" dirty="0"/>
              <a:t>Extract vs Live connection</a:t>
            </a:r>
          </a:p>
          <a:p>
            <a:r>
              <a:rPr lang="en-US" dirty="0"/>
              <a:t>Number of joins</a:t>
            </a:r>
          </a:p>
          <a:p>
            <a:r>
              <a:rPr lang="en-US" dirty="0"/>
              <a:t>Data source filters</a:t>
            </a:r>
          </a:p>
          <a:p>
            <a:r>
              <a:rPr lang="en-US" dirty="0"/>
              <a:t>Visualization complexity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33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345C4-717F-4E0F-40E3-6806C7473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300B1-644D-FE78-C331-FCDEE68F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AEEAE-FBA6-E8D4-1A84-7D5BE2F5A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Power BI Performance</a:t>
            </a:r>
          </a:p>
          <a:p>
            <a:r>
              <a:rPr lang="en-US" dirty="0"/>
              <a:t>Important factors:</a:t>
            </a:r>
          </a:p>
          <a:p>
            <a:r>
              <a:rPr lang="en-US" b="1" dirty="0"/>
              <a:t>Data Model Size</a:t>
            </a:r>
            <a:endParaRPr lang="en-US" dirty="0"/>
          </a:p>
          <a:p>
            <a:pPr lvl="1"/>
            <a:r>
              <a:rPr lang="en-US" dirty="0"/>
              <a:t>Avoid unnecessary columns</a:t>
            </a:r>
          </a:p>
          <a:p>
            <a:r>
              <a:rPr lang="en-US" b="1" dirty="0"/>
              <a:t>Relationships</a:t>
            </a:r>
            <a:endParaRPr lang="en-US" dirty="0"/>
          </a:p>
          <a:p>
            <a:pPr lvl="1"/>
            <a:r>
              <a:rPr lang="en-US" dirty="0"/>
              <a:t>Avoid many-to-many</a:t>
            </a:r>
          </a:p>
          <a:p>
            <a:r>
              <a:rPr lang="en-US" b="1" dirty="0"/>
              <a:t>Star Schema</a:t>
            </a:r>
            <a:endParaRPr lang="en-US" dirty="0"/>
          </a:p>
          <a:p>
            <a:pPr lvl="1"/>
            <a:r>
              <a:rPr lang="en-US" dirty="0"/>
              <a:t>Improves compression</a:t>
            </a:r>
          </a:p>
          <a:p>
            <a:r>
              <a:rPr lang="en-US" b="1" dirty="0"/>
              <a:t>DAX Optimization</a:t>
            </a:r>
            <a:endParaRPr lang="en-US" dirty="0"/>
          </a:p>
          <a:p>
            <a:pPr lvl="1"/>
            <a:r>
              <a:rPr lang="en-US" dirty="0"/>
              <a:t>Measures faster than calculated columns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326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954B4-44F8-1B6A-E0C1-436796BFC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44040037-D1D8-2B4E-8CD9-11719F8E7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307" y="0"/>
            <a:ext cx="9569671" cy="637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869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59C77-31E0-8534-9022-0F1DAF3F1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44C55-1873-7DDB-C085-FD45643A1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E0552-D58E-7B26-6789-541A03D8D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67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D8EEB-DE3D-1FAD-33B5-8EC8CECE2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8D3D7-967B-205D-500F-E9F3897C2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Calculation Engines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6C181-3084-22FE-E721-CE2DECAAF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5374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0AAD6-0DEC-4E69-A48B-6299F73D3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D43D4-D185-BD00-5922-565A7091B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00D69-0B1B-94DD-254B-0C03E1B45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Tableau (</a:t>
            </a:r>
            <a:r>
              <a:rPr lang="en-US" b="1" dirty="0" err="1"/>
              <a:t>VizQL</a:t>
            </a:r>
            <a:r>
              <a:rPr lang="en-US" b="1" dirty="0"/>
              <a:t> Engine)</a:t>
            </a:r>
          </a:p>
          <a:p>
            <a:pPr lvl="1"/>
            <a:r>
              <a:rPr lang="en-US" dirty="0"/>
              <a:t>Query generated dynamically per visualization</a:t>
            </a:r>
          </a:p>
          <a:p>
            <a:pPr lvl="1"/>
            <a:r>
              <a:rPr lang="en-US" dirty="0"/>
              <a:t>Works </a:t>
            </a:r>
            <a:r>
              <a:rPr lang="en-US" b="1" dirty="0"/>
              <a:t>visual-first</a:t>
            </a:r>
            <a:endParaRPr lang="en-US" dirty="0"/>
          </a:p>
          <a:p>
            <a:pPr lvl="1"/>
            <a:r>
              <a:rPr lang="en-US" dirty="0"/>
              <a:t>Aggregation happens automatically in view</a:t>
            </a:r>
          </a:p>
          <a:p>
            <a:r>
              <a:rPr lang="en-US" b="1" dirty="0"/>
              <a:t>Power BI (DAX Engine)</a:t>
            </a:r>
          </a:p>
          <a:p>
            <a:pPr lvl="1"/>
            <a:r>
              <a:rPr lang="en-US" dirty="0"/>
              <a:t>Uses </a:t>
            </a:r>
            <a:r>
              <a:rPr lang="en-US" b="1" dirty="0" err="1"/>
              <a:t>VertiPaq</a:t>
            </a:r>
            <a:r>
              <a:rPr lang="en-US" b="1" dirty="0"/>
              <a:t> (in-memory columnar engine)</a:t>
            </a:r>
            <a:endParaRPr lang="en-US" dirty="0"/>
          </a:p>
          <a:p>
            <a:pPr lvl="1"/>
            <a:r>
              <a:rPr lang="en-US" dirty="0"/>
              <a:t>Works </a:t>
            </a:r>
            <a:r>
              <a:rPr lang="en-US" b="1" dirty="0"/>
              <a:t>model-first</a:t>
            </a:r>
            <a:endParaRPr lang="en-US" dirty="0"/>
          </a:p>
          <a:p>
            <a:pPr lvl="1"/>
            <a:r>
              <a:rPr lang="en-US" dirty="0"/>
              <a:t>Requires explicit aggregation using DAX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204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C2044-07D0-113D-ADC2-F56EC8740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05795-F0C0-29A1-8CFF-BAE3C0818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F07DA-588B-48B7-B60E-CCB6241A2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Tableau: </a:t>
            </a:r>
            <a:r>
              <a:rPr lang="en-US" i="1" dirty="0"/>
              <a:t>“What you see defines the calculation”</a:t>
            </a:r>
            <a:endParaRPr lang="en-US" dirty="0"/>
          </a:p>
          <a:p>
            <a:r>
              <a:rPr lang="en-US" dirty="0"/>
              <a:t>Power BI: </a:t>
            </a:r>
            <a:r>
              <a:rPr lang="en-US" i="1" dirty="0"/>
              <a:t>“Data model defines the calculation”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9138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A854E-7ECA-40D7-B356-E5FCA8B4F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75DBF-EC90-81D5-3FA8-38C867B02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Tableau Calculated Fields vs DAX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B8E90-1679-1BA0-8AFB-2882219D5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785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53473-5EC4-7026-A810-5938300F0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32743-8578-D3F8-E2DF-664725A44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5A5C3-027F-4CEB-04D5-432BDAAB4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Tableau:</a:t>
            </a:r>
          </a:p>
          <a:p>
            <a:r>
              <a:rPr lang="en-US" dirty="0"/>
              <a:t>[Profit Ratio] = SUM([Profit]) / SUM([Sales])</a:t>
            </a:r>
          </a:p>
          <a:p>
            <a:endParaRPr lang="en-US" dirty="0"/>
          </a:p>
          <a:p>
            <a:r>
              <a:rPr lang="en-US" b="1" dirty="0"/>
              <a:t>Power BI:</a:t>
            </a:r>
          </a:p>
          <a:p>
            <a:r>
              <a:rPr lang="en-US" dirty="0"/>
              <a:t>Profit Ratio = DIVIDE(SUM(Sales[Profit]), SUM(Sales[Sales]))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420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7FFCD-0F9E-3618-1B72-D46584EE9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B75B3-6EC5-039C-9DD6-D4DC35FD2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C6AD7-7C02-F0A8-AB17-CF1B23D96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2201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F0265-D66E-7F7C-9AAE-75839D51C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1E660-ED98-A2FE-2874-124C0070C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5A58D-BFB3-526B-29F1-880B61991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Tableau (Auto Aggregation)</a:t>
            </a:r>
          </a:p>
          <a:p>
            <a:r>
              <a:rPr lang="en-US" dirty="0"/>
              <a:t>SUM([Sales])</a:t>
            </a:r>
            <a:br>
              <a:rPr lang="en-US" dirty="0"/>
            </a:br>
            <a:r>
              <a:rPr lang="en-US" dirty="0"/>
              <a:t>AVG([Profit])</a:t>
            </a:r>
          </a:p>
          <a:p>
            <a:r>
              <a:rPr lang="en-US" b="1" dirty="0"/>
              <a:t>DAX (Explicit)</a:t>
            </a:r>
          </a:p>
          <a:p>
            <a:r>
              <a:rPr lang="en-US" dirty="0"/>
              <a:t>Total Sales = SUM(Sales[Sales])</a:t>
            </a:r>
            <a:br>
              <a:rPr lang="en-US" dirty="0"/>
            </a:br>
            <a:r>
              <a:rPr lang="en-US" dirty="0"/>
              <a:t>Avg Profit = AVERAGE(Sales[Profit])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7952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7DF16-E29F-3183-BCE3-782B0494B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59B89-DAB7-6057-2A28-A42DCE121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LOD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8B1F8-FF60-2C46-F54F-975071C53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569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2EAF0-D0A1-32E4-6C7C-3456BB336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LOD Expression?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36214-FE4B-8D26-1808-1DC6B3792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LOD = Level of Detail</a:t>
            </a:r>
          </a:p>
          <a:p>
            <a:r>
              <a:rPr lang="en-US" dirty="0"/>
              <a:t>“At what level (granularity) should this calculation happen, regardless of what is shown in the view?”</a:t>
            </a:r>
          </a:p>
          <a:p>
            <a:r>
              <a:rPr lang="en-US" dirty="0"/>
              <a:t>Normally in Tableau:</a:t>
            </a:r>
          </a:p>
          <a:p>
            <a:r>
              <a:rPr lang="en-US" dirty="0"/>
              <a:t>Calculation depends on what is in the view</a:t>
            </a:r>
            <a:br>
              <a:rPr lang="en-US" dirty="0"/>
            </a:br>
            <a:r>
              <a:rPr lang="en-US" dirty="0"/>
              <a:t>(e.g., Region, Product, Customer)</a:t>
            </a:r>
          </a:p>
          <a:p>
            <a:r>
              <a:rPr lang="en-US" dirty="0"/>
              <a:t>BUT…</a:t>
            </a:r>
          </a:p>
          <a:p>
            <a:r>
              <a:rPr lang="en-US" b="1" dirty="0"/>
              <a:t>LOD lets you override that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997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CDE84-AC59-C6AF-B948-CB95D6113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Without LOD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194E1-F626-212B-174B-27FB8A3F6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create:</a:t>
            </a:r>
          </a:p>
          <a:p>
            <a:r>
              <a:rPr lang="en-US" dirty="0"/>
              <a:t>SUM([Sales])</a:t>
            </a:r>
          </a:p>
          <a:p>
            <a:r>
              <a:rPr lang="en-US" dirty="0"/>
              <a:t>👉 Result depends on:</a:t>
            </a:r>
          </a:p>
          <a:p>
            <a:r>
              <a:rPr lang="en-US" dirty="0"/>
              <a:t>Region → Sales per Region</a:t>
            </a:r>
          </a:p>
          <a:p>
            <a:r>
              <a:rPr lang="en-US" dirty="0"/>
              <a:t>Product → Sales per Product</a:t>
            </a:r>
          </a:p>
          <a:p>
            <a:r>
              <a:rPr lang="en-US" dirty="0"/>
              <a:t>👉 So output changes with view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8193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B0646-A072-2662-D512-2A156039A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WITH LOD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7A0A6-2C9F-D67B-9881-B085683BC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{ FIXED [Region] : SUM([Sales]) }</a:t>
            </a:r>
          </a:p>
          <a:p>
            <a:r>
              <a:rPr lang="en-US" dirty="0"/>
              <a:t>👉 Now:</a:t>
            </a:r>
          </a:p>
          <a:p>
            <a:r>
              <a:rPr lang="en-US" dirty="0"/>
              <a:t>Even if you add Customer or Product</a:t>
            </a:r>
          </a:p>
          <a:p>
            <a:r>
              <a:rPr lang="en-US" dirty="0"/>
              <a:t>It STILL calculates </a:t>
            </a:r>
            <a:r>
              <a:rPr lang="en-US" b="1" dirty="0"/>
              <a:t>Sales per Region only</a:t>
            </a:r>
            <a:endParaRPr lang="en-US" dirty="0"/>
          </a:p>
          <a:p>
            <a:r>
              <a:rPr lang="en-US"/>
              <a:t>👉 View changes ❌</a:t>
            </a:r>
            <a:br>
              <a:rPr lang="en-US"/>
            </a:br>
            <a:r>
              <a:rPr lang="en-US"/>
              <a:t>👉 Calculation stays fixed ✅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4943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3548B-39CC-7FD8-2880-C79F74E52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0DDB9-A4FE-3F63-5585-1D48FECF7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5F07A-360D-17F9-D997-8FC6F8563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Tableau LOD Types</a:t>
            </a:r>
          </a:p>
          <a:p>
            <a:r>
              <a:rPr lang="en-US" dirty="0"/>
              <a:t>FIXED</a:t>
            </a:r>
          </a:p>
          <a:p>
            <a:r>
              <a:rPr lang="en-US" dirty="0"/>
              <a:t>INCLUDE</a:t>
            </a:r>
          </a:p>
          <a:p>
            <a:r>
              <a:rPr lang="en-US" dirty="0"/>
              <a:t>EXCLUDE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334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126FF-F301-6DB3-E9B3-A603DBE99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74676-CB30-FFF9-AA1C-92DF72B41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FIXED LOD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AD930-2F27-2BB7-15D4-9534677F6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Tableau</a:t>
            </a:r>
          </a:p>
          <a:p>
            <a:r>
              <a:rPr lang="en-US" dirty="0"/>
              <a:t>{ FIXED [Region] : SUM([Sales]) }</a:t>
            </a:r>
          </a:p>
          <a:p>
            <a:r>
              <a:rPr lang="en-US" b="1" dirty="0"/>
              <a:t>DAX Equivalent</a:t>
            </a:r>
          </a:p>
          <a:p>
            <a:r>
              <a:rPr lang="en-US" dirty="0"/>
              <a:t>Sales by Region =</a:t>
            </a:r>
            <a:br>
              <a:rPr lang="en-US" dirty="0"/>
            </a:br>
            <a:r>
              <a:rPr lang="en-US" dirty="0"/>
              <a:t>CALCULATE(</a:t>
            </a:r>
            <a:br>
              <a:rPr lang="en-US" dirty="0"/>
            </a:br>
            <a:r>
              <a:rPr lang="en-US" dirty="0"/>
              <a:t>    SUM(Sales[Sales]),</a:t>
            </a:r>
            <a:br>
              <a:rPr lang="en-US" dirty="0"/>
            </a:br>
            <a:r>
              <a:rPr lang="en-US" dirty="0"/>
              <a:t>    ALLEXCEPT(Sales, Sales[Region])</a:t>
            </a:r>
            <a:br>
              <a:rPr lang="en-US" dirty="0"/>
            </a:b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6496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DB2C9-FBB8-D4AD-9379-82AFF93F7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45D7D-25EA-6DE1-91AA-D90ED873B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INCLUDE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2D31C-2E4D-7B24-EF16-1A4D4DAF3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/>
              <a:t>Tableau</a:t>
            </a:r>
          </a:p>
          <a:p>
            <a:r>
              <a:rPr lang="en-US" dirty="0"/>
              <a:t>{ INCLUDE [Customer Name] : SUM([Sales]) }</a:t>
            </a:r>
          </a:p>
          <a:p>
            <a:r>
              <a:rPr lang="en-US" b="1" dirty="0"/>
              <a:t>DAX</a:t>
            </a:r>
          </a:p>
          <a:p>
            <a:r>
              <a:rPr lang="en-US" dirty="0"/>
              <a:t>👉 Usually handled via </a:t>
            </a:r>
            <a:r>
              <a:rPr lang="en-US" b="1" dirty="0"/>
              <a:t>visual context</a:t>
            </a:r>
            <a:r>
              <a:rPr lang="en-US" dirty="0"/>
              <a:t> OR:</a:t>
            </a:r>
          </a:p>
          <a:p>
            <a:r>
              <a:rPr lang="en-US" dirty="0"/>
              <a:t>SUM(Sales[Sales])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6910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299F6-1723-A84C-6826-A3316A88C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7C5CD-1195-C0D7-0A62-27685616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EXCLUDE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EA68D-32F2-53B7-62B3-F15C21795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/>
              <a:t>Tableau</a:t>
            </a:r>
          </a:p>
          <a:p>
            <a:r>
              <a:rPr lang="en-US" dirty="0"/>
              <a:t>{ EXCLUDE [Region] : SUM([Sales]) }</a:t>
            </a:r>
          </a:p>
          <a:p>
            <a:r>
              <a:rPr lang="en-US" b="1" dirty="0"/>
              <a:t>DAX</a:t>
            </a:r>
          </a:p>
          <a:p>
            <a:r>
              <a:rPr lang="en-US" dirty="0"/>
              <a:t>CALCULATE(</a:t>
            </a:r>
            <a:br>
              <a:rPr lang="en-US" dirty="0"/>
            </a:br>
            <a:r>
              <a:rPr lang="en-US" dirty="0"/>
              <a:t>    SUM(Sales[Sales]),</a:t>
            </a:r>
            <a:br>
              <a:rPr lang="en-US" dirty="0"/>
            </a:br>
            <a:r>
              <a:rPr lang="en-US" dirty="0"/>
              <a:t>    ALL(Sales[Region])</a:t>
            </a:r>
            <a:br>
              <a:rPr lang="en-US" dirty="0"/>
            </a:b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1010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06DB4-A258-5B34-3950-7D75E7460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14D48-A153-7AF1-B8DA-AFB6D44CE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75A25-E483-7F0A-E944-BAFB68FA1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166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A1B4A-0B73-90C0-0FC2-A66E06479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A31A5-CE4D-8514-6D95-87F2A1440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Tableau (Post-aggregation)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BE2DB-0DA1-E054-CB4D-A36C65E90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RUNNING_SUM(SUM([Sales]))</a:t>
            </a:r>
          </a:p>
          <a:p>
            <a:endParaRPr lang="en-US" dirty="0"/>
          </a:p>
          <a:p>
            <a:r>
              <a:rPr lang="en-US" b="1" dirty="0"/>
              <a:t>DAX Equivalent</a:t>
            </a:r>
          </a:p>
          <a:p>
            <a:r>
              <a:rPr lang="en-US" dirty="0"/>
              <a:t>Running Total =</a:t>
            </a:r>
            <a:br>
              <a:rPr lang="en-US" dirty="0"/>
            </a:br>
            <a:r>
              <a:rPr lang="en-US" dirty="0"/>
              <a:t>CALCULATE(</a:t>
            </a:r>
            <a:br>
              <a:rPr lang="en-US" dirty="0"/>
            </a:br>
            <a:r>
              <a:rPr lang="en-US" dirty="0"/>
              <a:t>    SUM(Sales[Sales]),</a:t>
            </a:r>
            <a:br>
              <a:rPr lang="en-US" dirty="0"/>
            </a:br>
            <a:r>
              <a:rPr lang="en-US" dirty="0"/>
              <a:t>    FILTER(</a:t>
            </a:r>
            <a:br>
              <a:rPr lang="en-US" dirty="0"/>
            </a:br>
            <a:r>
              <a:rPr lang="en-US" dirty="0"/>
              <a:t>        ALLSELECTED(Sales[Date]),</a:t>
            </a:r>
            <a:br>
              <a:rPr lang="en-US" dirty="0"/>
            </a:br>
            <a:r>
              <a:rPr lang="en-US" dirty="0"/>
              <a:t>        Sales[Date] &lt;= MAX(Sales[Date])</a:t>
            </a:r>
            <a:br>
              <a:rPr lang="en-US" dirty="0"/>
            </a:br>
            <a:r>
              <a:rPr lang="en-US" dirty="0"/>
              <a:t>    )</a:t>
            </a:r>
            <a:br>
              <a:rPr lang="en-US" dirty="0"/>
            </a:b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166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EA964-137D-24A6-39B9-0FE168FD4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3568E-1063-4868-1DD8-AAC32293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Filter Context vs Row Context (CORE CONCEPT)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1F761-7FCB-7804-99C6-9DF606A19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Tableau</a:t>
            </a:r>
          </a:p>
          <a:p>
            <a:r>
              <a:rPr lang="en-US" dirty="0"/>
              <a:t>Filters applied visually</a:t>
            </a:r>
          </a:p>
          <a:p>
            <a:r>
              <a:rPr lang="en-US" dirty="0"/>
              <a:t>Context handled automatically</a:t>
            </a:r>
          </a:p>
          <a:p>
            <a:endParaRPr lang="en-US" dirty="0"/>
          </a:p>
          <a:p>
            <a:r>
              <a:rPr lang="en-US" b="1" dirty="0"/>
              <a:t>Power BI</a:t>
            </a:r>
          </a:p>
          <a:p>
            <a:r>
              <a:rPr lang="en-US" b="1" dirty="0"/>
              <a:t>Row Context</a:t>
            </a:r>
          </a:p>
          <a:p>
            <a:r>
              <a:rPr lang="en-US" dirty="0"/>
              <a:t>Exists in calculated columns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502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C47748-2920-2AD1-0A92-2172F46DE7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429683"/>
              </p:ext>
            </p:extLst>
          </p:nvPr>
        </p:nvGraphicFramePr>
        <p:xfrm>
          <a:off x="1066800" y="2582426"/>
          <a:ext cx="10058400" cy="192024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643869824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9069939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743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Row Context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Working </a:t>
                      </a:r>
                      <a:r>
                        <a:rPr lang="en-US" b="1" dirty="0"/>
                        <a:t>row by row</a:t>
                      </a:r>
                      <a:r>
                        <a:rPr lang="en-US" dirty="0"/>
                        <a:t>, like in a raw table. Example: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[Profit] / [Sales]</a:t>
                      </a:r>
                      <a:r>
                        <a:rPr lang="en-US" dirty="0"/>
                        <a:t> calculates per row.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7632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Filter Context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</a:t>
                      </a:r>
                      <a:r>
                        <a:rPr lang="en-US" b="1" dirty="0"/>
                        <a:t>subset of data currently visible</a:t>
                      </a:r>
                      <a:r>
                        <a:rPr lang="en-US" dirty="0"/>
                        <a:t> in the view after applying filters, dimension selections, or context filters.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024317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54CC101-E60C-49E9-6D83-517568463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383" y="1150413"/>
            <a:ext cx="8366008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Concept – Row Context vs Filter Context in Tableau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9729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78B60-AEED-C285-B4E7-EA46F01E4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3A16F-870A-280D-916B-53B9BEEB4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1A751-7228-6F38-9570-2FF1B06FD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Filter Context</a:t>
            </a:r>
          </a:p>
          <a:p>
            <a:r>
              <a:rPr lang="en-US" dirty="0"/>
              <a:t>Used in measures</a:t>
            </a:r>
          </a:p>
          <a:p>
            <a:r>
              <a:rPr lang="en-US" dirty="0"/>
              <a:t>Total Sales = SUM(Sales[Sales])</a:t>
            </a:r>
          </a:p>
          <a:p>
            <a:endParaRPr lang="en-US" dirty="0"/>
          </a:p>
          <a:p>
            <a:r>
              <a:rPr lang="en-US" b="1" dirty="0"/>
              <a:t>Context Transition</a:t>
            </a:r>
          </a:p>
          <a:p>
            <a:r>
              <a:rPr lang="en-US" dirty="0"/>
              <a:t>CALCULATE()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7564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44AD6-239D-76F0-6374-77B390E61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7D4D-6EA3-300C-9BE1-0D15ABE00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Intelligence Migration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F6A6A-155F-98BD-91AC-9C455C0CB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903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58A96-49D7-0192-B1C0-8FC10D2F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DA732-EC2A-CB82-5B8A-163CDB722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97E2F-D967-2009-6ED3-A37A1DAC1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Tableau</a:t>
            </a:r>
          </a:p>
          <a:p>
            <a:r>
              <a:rPr lang="en-US" dirty="0"/>
              <a:t>YEAR([Order Date])</a:t>
            </a:r>
            <a:br>
              <a:rPr lang="en-US" dirty="0"/>
            </a:br>
            <a:r>
              <a:rPr lang="en-US" dirty="0"/>
              <a:t>DATETRUNC('month', [Order Date])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DAX</a:t>
            </a:r>
          </a:p>
          <a:p>
            <a:r>
              <a:rPr lang="en-US" dirty="0"/>
              <a:t>Year = YEAR(Sales[Order Date])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Month Start = STARTOFMONTH(Sales[Order Date])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40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FF2D6-05E3-F3BA-11AD-7E2EA2696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DCEF5-4421-82A3-4E63-0EBF939EA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Calculations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A6774-0951-33B4-1F17-142756493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444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76305-AE42-AFCE-D9AD-EB57C7BE0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FBF41-11C3-72A8-850F-6246F7982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9291A5-198C-AFEC-B308-482ECFC2E0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9428761"/>
              </p:ext>
            </p:extLst>
          </p:nvPr>
        </p:nvGraphicFramePr>
        <p:xfrm>
          <a:off x="1096963" y="2891314"/>
          <a:ext cx="10058400" cy="219456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4209392444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7659269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Tableau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DAX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631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IF [Sales] &gt; 1000 THEN "High" 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IF(SUM(Sales[Sales]) &gt; 1000, "High", BLANK())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815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ZN([Sales])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COALESCE(SUM(Sales[Sales]), 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985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ISNULL([Sales])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ISBLANK(SUM(Sales[Sales]))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3305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LEN([Name])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LEN(Sales[Name])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0240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LEFT([Name], 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LEFT(Sales[Name], 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6049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49056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BAD24-094E-429C-9378-E8306E019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73CE0-0FB6-3299-A706-03099DBC3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AF81D-1F36-46FF-EF17-ACCA2446A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88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C961A-06C4-66A7-68B2-AF3A16FF8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6671B-0861-D062-FB87-FED987EB4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1C0ED-D77B-19D4-6E1E-F577F7735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3375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79E48-AF92-AE43-899B-86B2057A0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29349-3A58-CDE0-C030-9B0F7952B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B134D-684B-6DED-5EC5-DEBFBF88C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1719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459B9-1C9F-CF3B-FFBD-97598CB82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F8E0D-B67E-B9AA-E9CC-ACCB255C5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5CAAD-31BF-5A61-A4C1-EFB1387BB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15905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2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{0772E1A3-BBB9-474A-AAC2-0B912B5374BC}TF427093bb-7ddc-497b-80f4-fe945bcee621ff7241c0_win32-add2936a5c77</Template>
  <TotalTime>691</TotalTime>
  <Words>1144</Words>
  <Application>Microsoft Office PowerPoint</Application>
  <PresentationFormat>Widescreen</PresentationFormat>
  <Paragraphs>236</Paragraphs>
  <Slides>50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Arial</vt:lpstr>
      <vt:lpstr>Arial Black</vt:lpstr>
      <vt:lpstr>Bookman Old Style</vt:lpstr>
      <vt:lpstr>Calibri</vt:lpstr>
      <vt:lpstr>Courier New</vt:lpstr>
      <vt:lpstr>Franklin Gothic Book</vt:lpstr>
      <vt:lpstr>Wingdings</vt:lpstr>
      <vt:lpstr>1_RetrospectVTI</vt:lpstr>
      <vt:lpstr>PowerPoint Presentation</vt:lpstr>
      <vt:lpstr>Table of Content</vt:lpstr>
      <vt:lpstr>RECAP</vt:lpstr>
      <vt:lpstr>Day 02’s Agenda</vt:lpstr>
      <vt:lpstr>Data Modeling Migration</vt:lpstr>
      <vt:lpstr>Tableau Data Sources vs Power BI Datasets</vt:lpstr>
      <vt:lpstr>Tableau</vt:lpstr>
      <vt:lpstr>Power BI</vt:lpstr>
      <vt:lpstr>PowerPoint Presentation</vt:lpstr>
      <vt:lpstr>Relationship Modeling</vt:lpstr>
      <vt:lpstr>Tableau</vt:lpstr>
      <vt:lpstr>Power BI</vt:lpstr>
      <vt:lpstr>PowerPoint Presentation</vt:lpstr>
      <vt:lpstr>Retail Sales Analysis-Phase-1</vt:lpstr>
      <vt:lpstr>Retail Sales Analysis-Phase-2</vt:lpstr>
      <vt:lpstr>Cardinality Differences</vt:lpstr>
      <vt:lpstr>PowerPoint Presentation</vt:lpstr>
      <vt:lpstr>Star Schema Approach</vt:lpstr>
      <vt:lpstr>Performance Considerations</vt:lpstr>
      <vt:lpstr>PowerPoint Presentation</vt:lpstr>
      <vt:lpstr>PowerPoint Presentation</vt:lpstr>
      <vt:lpstr>PowerPoint Presentation</vt:lpstr>
      <vt:lpstr>Understanding Calculation Engines</vt:lpstr>
      <vt:lpstr>PowerPoint Presentation</vt:lpstr>
      <vt:lpstr>PowerPoint Presentation</vt:lpstr>
      <vt:lpstr>Tableau Calculated Fields vs DAX</vt:lpstr>
      <vt:lpstr>PowerPoint Presentation</vt:lpstr>
      <vt:lpstr>Aggregations</vt:lpstr>
      <vt:lpstr>PowerPoint Presentation</vt:lpstr>
      <vt:lpstr>LOD Expressions</vt:lpstr>
      <vt:lpstr>What is LOD Expression? </vt:lpstr>
      <vt:lpstr>Example Without LOD </vt:lpstr>
      <vt:lpstr>Example WITH LOD</vt:lpstr>
      <vt:lpstr>PowerPoint Presentation</vt:lpstr>
      <vt:lpstr>FIXED LOD</vt:lpstr>
      <vt:lpstr>INCLUDE</vt:lpstr>
      <vt:lpstr>EXCLUDE</vt:lpstr>
      <vt:lpstr>Table Calculations</vt:lpstr>
      <vt:lpstr>Tableau (Post-aggregation)</vt:lpstr>
      <vt:lpstr>Filter Context vs Row Context (CORE CONCEPT)</vt:lpstr>
      <vt:lpstr>PowerPoint Presentation</vt:lpstr>
      <vt:lpstr>PowerPoint Presentation</vt:lpstr>
      <vt:lpstr>Time Intelligence Migration</vt:lpstr>
      <vt:lpstr>PowerPoint Presentation</vt:lpstr>
      <vt:lpstr>Basic Calculations Conversion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Harmeet Sehra</dc:creator>
  <cp:lastModifiedBy>Harmeet Sehra</cp:lastModifiedBy>
  <cp:revision>228</cp:revision>
  <dcterms:created xsi:type="dcterms:W3CDTF">2026-03-15T10:40:27Z</dcterms:created>
  <dcterms:modified xsi:type="dcterms:W3CDTF">2026-03-17T12:10:09Z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