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1"/>
  </p:notesMasterIdLst>
  <p:sldIdLst>
    <p:sldId id="268" r:id="rId5"/>
    <p:sldId id="310" r:id="rId6"/>
    <p:sldId id="462" r:id="rId7"/>
    <p:sldId id="311" r:id="rId8"/>
    <p:sldId id="375" r:id="rId9"/>
    <p:sldId id="376" r:id="rId10"/>
    <p:sldId id="377" r:id="rId11"/>
    <p:sldId id="378" r:id="rId12"/>
    <p:sldId id="379" r:id="rId13"/>
    <p:sldId id="382" r:id="rId14"/>
    <p:sldId id="383" r:id="rId15"/>
    <p:sldId id="46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464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10A"/>
    <a:srgbClr val="EAC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6647" autoAdjust="0"/>
  </p:normalViewPr>
  <p:slideViewPr>
    <p:cSldViewPr snapToGrid="0">
      <p:cViewPr varScale="1">
        <p:scale>
          <a:sx n="93" d="100"/>
          <a:sy n="93" d="100"/>
        </p:scale>
        <p:origin x="102" y="2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674F-241E-4620-AFAC-E5346871AAF8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AD1AA-7397-4AB3-BB9C-83FBD869A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4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16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7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00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8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69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0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8E9F1-78CB-3C09-8784-F102EF3416D1}"/>
              </a:ext>
            </a:extLst>
          </p:cNvPr>
          <p:cNvSpPr/>
          <p:nvPr/>
        </p:nvSpPr>
        <p:spPr>
          <a:xfrm>
            <a:off x="684336" y="4098875"/>
            <a:ext cx="11112500" cy="800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FE400-464F-B185-4F6D-3EC2ABCD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4" y="326643"/>
            <a:ext cx="9168171" cy="6112114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54CF3C40-8FA6-186E-4746-A85C6D68800F}"/>
              </a:ext>
            </a:extLst>
          </p:cNvPr>
          <p:cNvSpPr txBox="1">
            <a:spLocks/>
          </p:cNvSpPr>
          <p:nvPr/>
        </p:nvSpPr>
        <p:spPr>
          <a:xfrm>
            <a:off x="3014149" y="5815520"/>
            <a:ext cx="6989748" cy="446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>
                <a:solidFill>
                  <a:srgbClr val="52410A"/>
                </a:solidFill>
                <a:latin typeface="Arial Black" panose="020B0A04020102020204" pitchFamily="34" charset="0"/>
              </a:rPr>
              <a:t>Harmeet Singh Sehra</a:t>
            </a:r>
            <a:endParaRPr lang="en-US" b="1" dirty="0">
              <a:solidFill>
                <a:srgbClr val="52410A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C0586-6DAC-E5A1-0AA8-AD9166690F0E}"/>
              </a:ext>
            </a:extLst>
          </p:cNvPr>
          <p:cNvSpPr/>
          <p:nvPr/>
        </p:nvSpPr>
        <p:spPr>
          <a:xfrm>
            <a:off x="10205103" y="1961163"/>
            <a:ext cx="1433406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E80ED-1393-E782-06BA-FF2E4DDC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0874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Table of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B522-58FA-4C02-439C-7A48D4EC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D3B8C-64EA-1623-7D30-08A173FB2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1274"/>
            <a:ext cx="12192000" cy="44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6D10-271B-68CC-2E02-D55F3F7D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Recap-Day02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23432-CD56-B7F2-ED44-D00B63D12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Data Modeling Migration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Tableau Data Sources vs Power BI Datasets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Relationship Modeling and Cardinality Differences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Star Schema Approach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Retail Sales Analysis in Tableau: </a:t>
            </a:r>
            <a:r>
              <a:rPr lang="en-US" dirty="0" err="1"/>
              <a:t>Visualisation</a:t>
            </a:r>
            <a:r>
              <a:rPr lang="en-US" dirty="0"/>
              <a:t>, Marks Shelf, Column/Row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Understanding Calculation Engines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Tableau Calculated Fields vs DAX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Aggregations: Sum , Count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LOD(Level of Detail) Expressions-FIXED,INCLUDE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Table Calculations - RUNNING_SUM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Filter Context vs Row Context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9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2F29-02F5-7DD7-D2F0-66759239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Day 03’s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35D6-A411-4285-8147-24D2E9C2B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74" y="2050197"/>
            <a:ext cx="5162371" cy="3760891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Module 6 – Dashboard Migration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Topics: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Understanding Tableau Dashboard Structure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Tableau dashboard layout vs Power BI reports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Visual Mapping Strategy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Migration from Bar Chart to Clustered Bar/Column, Line to Line, Map to Filled Map and so on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Filters vs slicers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Dashboard Layout &amp; Design Conversion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Drill-through &amp; Navigation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Interactivity &amp; Cross Filtering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Parameter Conversion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3A58BA-5E61-7F96-9461-66BB09631D0B}"/>
              </a:ext>
            </a:extLst>
          </p:cNvPr>
          <p:cNvSpPr txBox="1">
            <a:spLocks/>
          </p:cNvSpPr>
          <p:nvPr/>
        </p:nvSpPr>
        <p:spPr>
          <a:xfrm>
            <a:off x="6425349" y="2050196"/>
            <a:ext cx="5651278" cy="3760891"/>
          </a:xfrm>
          <a:prstGeom prst="rect">
            <a:avLst/>
          </a:prstGeom>
          <a:solidFill>
            <a:schemeClr val="accent2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</a:rPr>
              <a:t>Module 7 – Performance Optimization &amp; Best Practices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Topics: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Model optimization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DAX performance tips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Visual optimization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Dataset size management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Dashboard Performance Considerations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Dashboard UX Improvements During Migration</a:t>
            </a:r>
          </a:p>
        </p:txBody>
      </p:sp>
    </p:spTree>
    <p:extLst>
      <p:ext uri="{BB962C8B-B14F-4D97-AF65-F5344CB8AC3E}">
        <p14:creationId xmlns:p14="http://schemas.microsoft.com/office/powerpoint/2010/main" val="118784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868D-5D9E-360D-8008-7F37C56D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823D-7181-2AEB-EC10-2C016E92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Tableau 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ED20-14B3-F1B1-C8B8-AA47340E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2828-0D94-6EBE-AA1A-4514D547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2C85-DC03-EE2D-D18F-D87BFD4E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8A9A-EFE9-C356-E487-2774FC2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Tableau dashboard</a:t>
            </a:r>
            <a:r>
              <a:rPr lang="en-US" dirty="0"/>
              <a:t> is a combination of </a:t>
            </a:r>
            <a:r>
              <a:rPr lang="en-US" b="1" dirty="0"/>
              <a:t>multiple sheets</a:t>
            </a:r>
            <a:r>
              <a:rPr lang="en-US" dirty="0"/>
              <a:t> (charts, tables, maps, etc.) arranged together with interactive elements like </a:t>
            </a:r>
            <a:r>
              <a:rPr lang="en-US" b="1" dirty="0"/>
              <a:t>filters, parameters, and actions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Sheets:</a:t>
            </a:r>
            <a:r>
              <a:rPr lang="en-US" dirty="0"/>
              <a:t> Individual visualizations.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Filters:</a:t>
            </a:r>
            <a:r>
              <a:rPr lang="en-US" dirty="0"/>
              <a:t> Control the data displayed across sheets.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Parameters:</a:t>
            </a:r>
            <a:r>
              <a:rPr lang="en-US" dirty="0"/>
              <a:t> Dynamic input controls for user-driven changes.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Actions:</a:t>
            </a:r>
            <a:r>
              <a:rPr lang="en-US" dirty="0"/>
              <a:t> Hover, select, or menu-driven interactivity.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Layouts:</a:t>
            </a:r>
            <a:r>
              <a:rPr lang="en-US" dirty="0"/>
              <a:t> Floating vs tiled objects.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1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7C16-5ECB-AF55-E29F-3222024F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5313-8884-6628-9747-7405C8BF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Dashboard Layout vs Power BI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54C3-BC63-162F-318D-7BBF4E4A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3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A39A-FDEF-780F-B232-7CBB4041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5A3332-0EFC-7169-06EF-3B55DEDAA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036557"/>
              </p:ext>
            </p:extLst>
          </p:nvPr>
        </p:nvGraphicFramePr>
        <p:xfrm>
          <a:off x="1015145" y="825585"/>
          <a:ext cx="10129491" cy="483264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95169">
                  <a:extLst>
                    <a:ext uri="{9D8B030D-6E8A-4147-A177-3AD203B41FA5}">
                      <a16:colId xmlns:a16="http://schemas.microsoft.com/office/drawing/2014/main" val="1243132513"/>
                    </a:ext>
                  </a:extLst>
                </a:gridCol>
                <a:gridCol w="3473493">
                  <a:extLst>
                    <a:ext uri="{9D8B030D-6E8A-4147-A177-3AD203B41FA5}">
                      <a16:colId xmlns:a16="http://schemas.microsoft.com/office/drawing/2014/main" val="2030809848"/>
                    </a:ext>
                  </a:extLst>
                </a:gridCol>
                <a:gridCol w="4160829">
                  <a:extLst>
                    <a:ext uri="{9D8B030D-6E8A-4147-A177-3AD203B41FA5}">
                      <a16:colId xmlns:a16="http://schemas.microsoft.com/office/drawing/2014/main" val="3284346502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Feature</a:t>
                      </a:r>
                    </a:p>
                  </a:txBody>
                  <a:tcPr marL="87460" marR="87460" marT="43730" marB="4373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Tableau</a:t>
                      </a:r>
                    </a:p>
                  </a:txBody>
                  <a:tcPr marL="87460" marR="87460" marT="43730" marB="4373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Power BI</a:t>
                      </a:r>
                    </a:p>
                  </a:txBody>
                  <a:tcPr marL="87460" marR="87460" marT="43730" marB="4373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175818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Layout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Tiled &amp; Floating containers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Canvas-based, mostly free-form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257977647"/>
                  </a:ext>
                </a:extLst>
              </a:tr>
              <a:tr h="786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Filters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Filter shelf, can be global or local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Slicers, visual-level, page-level, report-level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2758367869"/>
                  </a:ext>
                </a:extLst>
              </a:tr>
              <a:tr h="786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Actions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Filter Actions, URL Actions, Highlight Actions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Drill-through, cross-filter, bookmarks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3351066214"/>
                  </a:ext>
                </a:extLst>
              </a:tr>
              <a:tr h="786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Parameters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User-driven dynamic inputs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Parameters via “What-if” and field references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952964619"/>
                  </a:ext>
                </a:extLst>
              </a:tr>
              <a:tr h="786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Containers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Horizontal &amp; Vertical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Horizontal &amp; Vertical containers (like Tableau)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1696521861"/>
                  </a:ext>
                </a:extLst>
              </a:tr>
              <a:tr h="786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Interactivity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Dashboard Actions, Highlighting</a:t>
                      </a:r>
                    </a:p>
                  </a:txBody>
                  <a:tcPr marL="87460" marR="87460" marT="43730" marB="43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Cross-filtering, cross-highlighting, bookmarks, drill-through</a:t>
                      </a:r>
                    </a:p>
                  </a:txBody>
                  <a:tcPr marL="87460" marR="87460" marT="43730" marB="43730" anchor="ctr"/>
                </a:tc>
                <a:extLst>
                  <a:ext uri="{0D108BD9-81ED-4DB2-BD59-A6C34878D82A}">
                    <a16:rowId xmlns:a16="http://schemas.microsoft.com/office/drawing/2014/main" val="91325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92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7571-8A0E-355F-520D-D5A62330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780C-C119-2A01-AC5F-3B75AFC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Mapping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2457-F9DB-226C-5CB6-E15537DED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4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CD3B-9794-073B-C092-73A11807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3E63-7E59-5DDB-A1CC-5CD5B69E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CBAE-6CA6-474F-07FE-A82E56574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migrating charts, identify the </a:t>
            </a:r>
            <a:r>
              <a:rPr lang="en-US" b="1" dirty="0"/>
              <a:t>best Power BI equivalent</a:t>
            </a:r>
            <a:r>
              <a:rPr lang="en-US" dirty="0"/>
              <a:t>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45DBE0-4BE5-23FF-2B57-063B6263E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154764"/>
              </p:ext>
            </p:extLst>
          </p:nvPr>
        </p:nvGraphicFramePr>
        <p:xfrm>
          <a:off x="1097280" y="2542615"/>
          <a:ext cx="10058400" cy="36576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78178695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740266667"/>
                    </a:ext>
                  </a:extLst>
                </a:gridCol>
              </a:tblGrid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Tableau Chart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 Equivalent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401392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Clustered Bar/Column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619461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431382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Area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Area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2970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Map (Symbol)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Map or Filled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409488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Pie Chart / Donut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038860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Scatter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Scatter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438454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KPI /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Card Visual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920208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 /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571226"/>
                  </a:ext>
                </a:extLst>
              </a:tr>
              <a:tr h="3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Highlight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Conditional Formatting in Table/Matrix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61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38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9952-8C5A-2934-2136-554E0BCF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3B21-5045-4A7D-E690-18371085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from Chart to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75A0-7176-85D0-6801-869AA1423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Step-by-step for a bar chart example: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the </a:t>
            </a:r>
            <a:r>
              <a:rPr lang="en-US" b="1" dirty="0"/>
              <a:t>dimension and measure</a:t>
            </a:r>
            <a:r>
              <a:rPr lang="en-US" dirty="0"/>
              <a:t> used in Tableau.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 Power BI → insert </a:t>
            </a:r>
            <a:r>
              <a:rPr lang="en-US" b="1" dirty="0"/>
              <a:t>Clustered Column Chart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Drag the same dimension to </a:t>
            </a:r>
            <a:r>
              <a:rPr lang="en-US" b="1" dirty="0"/>
              <a:t>Axis</a:t>
            </a:r>
            <a:r>
              <a:rPr lang="en-US" dirty="0"/>
              <a:t> and measure to </a:t>
            </a:r>
            <a:r>
              <a:rPr lang="en-US" b="1" dirty="0"/>
              <a:t>Values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sorting, formatting, and colors</a:t>
            </a:r>
            <a:r>
              <a:rPr lang="en-US" dirty="0"/>
              <a:t> to match Tableau look.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any </a:t>
            </a:r>
            <a:r>
              <a:rPr lang="en-US" b="1" dirty="0"/>
              <a:t>filters/slicers</a:t>
            </a:r>
            <a:r>
              <a:rPr lang="en-US" dirty="0"/>
              <a:t> associated in Tableau.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F188-7FE6-6F7E-DFC3-BEB6A9F1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33062-F9F4-82C3-ED2E-61A70D8F0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Business Requirement</a:t>
            </a:r>
          </a:p>
          <a:p>
            <a:r>
              <a:rPr lang="en-US" dirty="0"/>
              <a:t>Categorize each </a:t>
            </a:r>
            <a:r>
              <a:rPr lang="en-US" b="1" dirty="0"/>
              <a:t>Region</a:t>
            </a:r>
            <a:r>
              <a:rPr lang="en-US" dirty="0"/>
              <a:t> based on its </a:t>
            </a:r>
            <a:r>
              <a:rPr lang="en-US" b="1" dirty="0"/>
              <a:t>contribution to total sales</a:t>
            </a:r>
            <a:r>
              <a:rPr lang="en-US" dirty="0"/>
              <a:t>:</a:t>
            </a:r>
          </a:p>
          <a:p>
            <a:r>
              <a:rPr lang="en-US" b="1" dirty="0"/>
              <a:t>Leader Region</a:t>
            </a:r>
            <a:r>
              <a:rPr lang="en-US" dirty="0"/>
              <a:t> → Contribution &gt; 40%</a:t>
            </a:r>
          </a:p>
          <a:p>
            <a:r>
              <a:rPr lang="en-US" b="1" dirty="0"/>
              <a:t>Growing Region</a:t>
            </a:r>
            <a:r>
              <a:rPr lang="en-US" dirty="0"/>
              <a:t> → Contribution between 20% and 40%</a:t>
            </a:r>
          </a:p>
          <a:p>
            <a:r>
              <a:rPr lang="en-US" b="1" dirty="0"/>
              <a:t>Low Contribution Region</a:t>
            </a:r>
            <a:r>
              <a:rPr lang="en-US" dirty="0"/>
              <a:t> → Contribution &lt; 20%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20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EE75-291C-4B31-F382-C0809029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1CFB-DA05-46EB-AC25-114EE9EE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vs Slicers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63C6F-DE0F-1E95-9D6E-837E37B14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1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38D36-C2E0-4FE4-636A-8768636E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76AC-5713-631B-499C-D75CC152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04124-112B-C9D1-4B46-617F0BCD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Tableau:</a:t>
            </a:r>
            <a:r>
              <a:rPr lang="en-US" dirty="0"/>
              <a:t> Filters applied via filter shelf or dashboard actions.</a:t>
            </a:r>
          </a:p>
          <a:p>
            <a:r>
              <a:rPr lang="en-US" b="1" dirty="0"/>
              <a:t>Power BI:</a:t>
            </a:r>
            <a:r>
              <a:rPr lang="en-US" dirty="0"/>
              <a:t> Slicers perform the same function.</a:t>
            </a:r>
          </a:p>
          <a:p>
            <a:endParaRPr lang="en-US" dirty="0"/>
          </a:p>
          <a:p>
            <a:r>
              <a:rPr lang="en-US" b="1" dirty="0"/>
              <a:t>Conversion Strategy:</a:t>
            </a:r>
            <a:endParaRPr lang="en-US" dirty="0"/>
          </a:p>
          <a:p>
            <a:r>
              <a:rPr lang="en-US" dirty="0"/>
              <a:t>Visual-level filter → Visual-level filter in Power BI.</a:t>
            </a:r>
          </a:p>
          <a:p>
            <a:r>
              <a:rPr lang="en-US" dirty="0"/>
              <a:t>Dashboard/global filter → Report-level slicer.</a:t>
            </a:r>
          </a:p>
          <a:p>
            <a:r>
              <a:rPr lang="en-US" dirty="0"/>
              <a:t>Continuous dates → Date slicer with relative, between, or list options.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87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32AA-C5E3-C880-3652-0FBBDE57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68F7-44E6-A45F-DABB-531CD7D1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Layout &amp; Design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28CC-4B2D-B416-BF50-17B5AD38B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23D0-B945-0383-1271-FCC2A16C9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865C-5960-7EFC-BFF0-6CAE2A52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D202-9D4B-5CDB-E3D2-2E56B2BD5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 to convert layout: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Analyze Tableau’s dashboard grid (rows, columns, floating charts).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 Power BI, use </a:t>
            </a:r>
            <a:r>
              <a:rPr lang="en-US" b="1" dirty="0"/>
              <a:t>Gridlines and Snap to Grid</a:t>
            </a:r>
            <a:r>
              <a:rPr lang="en-US" dirty="0"/>
              <a:t> for alignment.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containers</a:t>
            </a:r>
            <a:r>
              <a:rPr lang="en-US" dirty="0"/>
              <a:t> for grouping similar visuals.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Resize visuals to match Tableau proportions.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b="1" dirty="0"/>
              <a:t>titles, images, and logos</a:t>
            </a:r>
            <a:r>
              <a:rPr lang="en-US" dirty="0"/>
              <a:t> to mimic Tableau’s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37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BE4C-263E-2F59-A15B-E48E4CAA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F11A-6AC5-593B-9079-71FCD470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Drill-through &amp;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352B-4564-E7D3-C36D-DDA844301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Tableau:</a:t>
            </a:r>
            <a:r>
              <a:rPr lang="en-US" dirty="0"/>
              <a:t> Filter actions or sheet swapping for drill-through.</a:t>
            </a:r>
          </a:p>
          <a:p>
            <a:r>
              <a:rPr lang="en-US" b="1" dirty="0"/>
              <a:t>Power BI:</a:t>
            </a:r>
            <a:r>
              <a:rPr lang="en-US" dirty="0"/>
              <a:t> Drill-through pages, bookmarks, or buttons.</a:t>
            </a:r>
            <a:br>
              <a:rPr lang="en-US" dirty="0"/>
            </a:br>
            <a:r>
              <a:rPr lang="en-US" b="1" dirty="0"/>
              <a:t>Step: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the target sheet in Tableau (destination of drill-through).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 Power BI, create a </a:t>
            </a:r>
            <a:r>
              <a:rPr lang="en-US" b="1" dirty="0"/>
              <a:t>drill-through page</a:t>
            </a:r>
            <a:r>
              <a:rPr lang="en-US" dirty="0"/>
              <a:t> with the same dimension in “Drill-through filters.”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a </a:t>
            </a:r>
            <a:r>
              <a:rPr lang="en-US" b="1" dirty="0"/>
              <a:t>button or right-click navigation</a:t>
            </a:r>
            <a:r>
              <a:rPr lang="en-US" dirty="0"/>
              <a:t> to enable drill-through.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17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4A1A-3971-F31E-8B9E-F94C6848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E69A-7093-8ACF-1751-B2E27DA2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Interactivity &amp; Cross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8C517-416E-A783-1B8F-A152E605C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5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9B77-C59D-AED5-19C6-2B7B2080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5BC8-73C2-EFDC-5008-958C9ABC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551AA-7EA2-17E0-0CEC-93DA467B8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uses </a:t>
            </a:r>
            <a:r>
              <a:rPr lang="en-US" b="1" dirty="0"/>
              <a:t>highlight actions</a:t>
            </a:r>
            <a:r>
              <a:rPr lang="en-US" dirty="0"/>
              <a:t> and </a:t>
            </a:r>
            <a:r>
              <a:rPr lang="en-US" b="1" dirty="0"/>
              <a:t>filter actions</a:t>
            </a:r>
            <a:r>
              <a:rPr lang="en-US" dirty="0"/>
              <a:t>.</a:t>
            </a:r>
          </a:p>
          <a:p>
            <a:r>
              <a:rPr lang="en-US" dirty="0"/>
              <a:t>Power BI provides:</a:t>
            </a:r>
          </a:p>
          <a:p>
            <a:r>
              <a:rPr lang="en-US" b="1" dirty="0"/>
              <a:t>Cross-filtering / cross-highlighting</a:t>
            </a:r>
            <a:r>
              <a:rPr lang="en-US" dirty="0"/>
              <a:t> between visuals.</a:t>
            </a:r>
          </a:p>
          <a:p>
            <a:r>
              <a:rPr lang="en-US" b="1" dirty="0"/>
              <a:t>Sync slicers</a:t>
            </a:r>
            <a:r>
              <a:rPr lang="en-US" dirty="0"/>
              <a:t> across pages.</a:t>
            </a:r>
          </a:p>
          <a:p>
            <a:r>
              <a:rPr lang="en-US" dirty="0"/>
              <a:t>Conversion tip: replicate Tableau’s filter actions by selecting </a:t>
            </a:r>
            <a:r>
              <a:rPr lang="en-US" b="1" dirty="0"/>
              <a:t>Edit interactions</a:t>
            </a:r>
            <a:r>
              <a:rPr lang="en-US" dirty="0"/>
              <a:t> in Power BI for each visual.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64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165E-3DEB-63DC-712B-777D74E3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0B5B-B7A3-0789-01C9-B1CB6D01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99C9-825D-B60F-497E-FD85B886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18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8FCF-21B1-EFDC-5876-CD2A338B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3578-736C-B7A4-B6EB-39D1F0ED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FF54D-4669-70D4-89AC-51D105E7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parameters allow dynamic values (e.g., Top N, Thresholds).</a:t>
            </a:r>
          </a:p>
          <a:p>
            <a:r>
              <a:rPr lang="en-US" dirty="0"/>
              <a:t>Power BI supports:</a:t>
            </a:r>
          </a:p>
          <a:p>
            <a:pPr lvl="1"/>
            <a:r>
              <a:rPr lang="en-US" b="1" dirty="0"/>
              <a:t>What-if parameters</a:t>
            </a:r>
            <a:r>
              <a:rPr lang="en-US" dirty="0"/>
              <a:t> for numeric inputs.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calculated measures</a:t>
            </a:r>
            <a:r>
              <a:rPr lang="en-US" dirty="0"/>
              <a:t> to replicate parameter-driven logic.</a:t>
            </a:r>
            <a:br>
              <a:rPr lang="en-US" dirty="0"/>
            </a:b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Tableau: Parameter “Top N Customers” → Filter top N.</a:t>
            </a:r>
          </a:p>
          <a:p>
            <a:r>
              <a:rPr lang="en-US" dirty="0"/>
              <a:t>Power BI: Create a numeric “What-if” parameter and use </a:t>
            </a:r>
            <a:r>
              <a:rPr lang="en-US" b="1" dirty="0"/>
              <a:t>RANKX()</a:t>
            </a:r>
            <a:r>
              <a:rPr lang="en-US" dirty="0"/>
              <a:t> in DAX to filter top N customers dynamically.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8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47EE-D8A4-ACBE-B236-8F7065C9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E6D-9D55-40DD-64D2-38DCCAE6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Best Practices for Dashboard Migration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C7D5E-3B71-AB8A-1B2D-9BEC651C7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02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4C3A-70AF-0DCC-5036-E277C825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66DA-3E2B-F958-5D41-BE26CB17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1513-754D-DD48-3941-0F60364D5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Document all Tableau visuals</a:t>
            </a:r>
            <a:r>
              <a:rPr lang="en-US" dirty="0"/>
              <a:t> before starting migration (dimension, measure, filters, actions).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Start with simple charts</a:t>
            </a:r>
            <a:r>
              <a:rPr lang="en-US" dirty="0"/>
              <a:t> → then complex dashboards.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Validate measures</a:t>
            </a:r>
            <a:r>
              <a:rPr lang="en-US" dirty="0"/>
              <a:t> by comparing totals and KPIs.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Maintain colors and branding</a:t>
            </a:r>
            <a:r>
              <a:rPr lang="en-US" dirty="0"/>
              <a:t> for consistency.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Test interactivity</a:t>
            </a:r>
            <a:r>
              <a:rPr lang="en-US" dirty="0"/>
              <a:t> (filters, slicers, drill-through) after migration.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 containers in Power BI</a:t>
            </a:r>
            <a:r>
              <a:rPr lang="en-US" dirty="0"/>
              <a:t> to group related visuals like Tableau’s layout.</a:t>
            </a:r>
          </a:p>
        </p:txBody>
      </p:sp>
    </p:spTree>
    <p:extLst>
      <p:ext uri="{BB962C8B-B14F-4D97-AF65-F5344CB8AC3E}">
        <p14:creationId xmlns:p14="http://schemas.microsoft.com/office/powerpoint/2010/main" val="3276292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EDF0-9403-57A0-62A7-2068B5CA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5EF8-AB3C-09AA-773B-C44CB372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E896-ADCA-DF5B-D67D-DD8C005F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9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6AB0-77F9-7AAC-ED9B-0C16D4F9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AFB9-94CC-2CC5-3128-09428464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Optimization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BD48F-62BC-6730-9388-2C8292BC6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05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5FA5-2CC0-366A-CA2F-5D48878E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C30F-21C1-BCDD-D2F6-C66EEEF8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DC93-FA27-27D7-31A9-5B686B3B9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Make your data model efficient for faster calculations and responsive dashboards.</a:t>
            </a:r>
          </a:p>
          <a:p>
            <a:r>
              <a:rPr lang="en-US" b="1" dirty="0"/>
              <a:t>Best Practices: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Star Schema Design:</a:t>
            </a:r>
            <a:r>
              <a:rPr lang="en-US" dirty="0"/>
              <a:t> Keep a </a:t>
            </a:r>
            <a:r>
              <a:rPr lang="en-US" b="1" dirty="0"/>
              <a:t>fact table</a:t>
            </a:r>
            <a:r>
              <a:rPr lang="en-US" dirty="0"/>
              <a:t> with measures and </a:t>
            </a:r>
            <a:r>
              <a:rPr lang="en-US" b="1" dirty="0"/>
              <a:t>dimension tables</a:t>
            </a:r>
            <a:r>
              <a:rPr lang="en-US" dirty="0"/>
              <a:t> with attributes.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Avoid Bi-Directional Relationships</a:t>
            </a:r>
            <a:r>
              <a:rPr lang="en-US" dirty="0"/>
              <a:t> unless necessary; use </a:t>
            </a:r>
            <a:r>
              <a:rPr lang="en-US" b="1" dirty="0"/>
              <a:t>single-direction relationships</a:t>
            </a:r>
            <a:r>
              <a:rPr lang="en-US" dirty="0"/>
              <a:t> to reduce calculation complexity.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Use Lookup Tables:</a:t>
            </a:r>
            <a:r>
              <a:rPr lang="en-US" dirty="0"/>
              <a:t> Separate dimension tables reduce duplication and improve DAX performance.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Remove Unnecessary Columns:</a:t>
            </a:r>
            <a:r>
              <a:rPr lang="en-US" dirty="0"/>
              <a:t> Only load columns used in calculations, visuals, or filters.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b="1" dirty="0"/>
              <a:t>Data Types:</a:t>
            </a:r>
            <a:r>
              <a:rPr lang="en-US" dirty="0"/>
              <a:t> Use correct data types (integer instead of decimal when possible) to reduce memory usage.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408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2D20-1334-F2B9-862F-F32C478C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2FE13-32BC-C93E-5F18-9854AB61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Profit Calc = SUMX(Sales, Sales[Sales] * 0.1)</a:t>
            </a:r>
          </a:p>
          <a:p>
            <a:r>
              <a:rPr lang="en-US" dirty="0"/>
              <a:t>Electronics Sales = </a:t>
            </a:r>
            <a:br>
              <a:rPr lang="en-US" dirty="0"/>
            </a:br>
            <a:r>
              <a:rPr lang="en-US" dirty="0"/>
              <a:t>SUMX(</a:t>
            </a:r>
            <a:br>
              <a:rPr lang="en-US" dirty="0"/>
            </a:br>
            <a:r>
              <a:rPr lang="en-US" dirty="0"/>
              <a:t>FILTER(Sales, Sales[</a:t>
            </a:r>
            <a:r>
              <a:rPr lang="en-US" dirty="0" err="1"/>
              <a:t>ProductCategory</a:t>
            </a:r>
            <a:r>
              <a:rPr lang="en-US" dirty="0"/>
              <a:t>] = "Electronics"),</a:t>
            </a:r>
            <a:br>
              <a:rPr lang="en-US" dirty="0"/>
            </a:br>
            <a:r>
              <a:rPr lang="en-US" dirty="0"/>
              <a:t>Sales[Sales]</a:t>
            </a:r>
            <a:br>
              <a:rPr lang="en-US" dirty="0"/>
            </a:b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057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2F07-C646-770F-8E85-4726AC00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773A-2361-8E21-E472-1593A172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Performance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3EC41-D5E1-E70B-FB18-D0AF55799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Efficient Calculations: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Prefer </a:t>
            </a:r>
            <a:r>
              <a:rPr lang="en-US" b="1" dirty="0"/>
              <a:t>CALCULATE + FILTER</a:t>
            </a:r>
            <a:r>
              <a:rPr lang="en-US" dirty="0"/>
              <a:t> over </a:t>
            </a:r>
            <a:r>
              <a:rPr lang="en-US" b="1" dirty="0"/>
              <a:t>complex row-by-row operations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SUMX / AVERAGEX</a:t>
            </a:r>
            <a:r>
              <a:rPr lang="en-US" dirty="0"/>
              <a:t> sparingly; aggregate in the fact table if possible.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Avoid </a:t>
            </a:r>
            <a:r>
              <a:rPr lang="en-US" b="1" dirty="0"/>
              <a:t>iterators on large tables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variables (VAR)</a:t>
            </a:r>
            <a:r>
              <a:rPr lang="en-US" dirty="0"/>
              <a:t> to store intermediate results and reduce repeated calculations.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Minimize the use of </a:t>
            </a:r>
            <a:r>
              <a:rPr lang="en-US" b="1" dirty="0"/>
              <a:t>ALL()</a:t>
            </a:r>
            <a:r>
              <a:rPr lang="en-US" dirty="0"/>
              <a:t> or </a:t>
            </a:r>
            <a:r>
              <a:rPr lang="en-US" b="1" dirty="0"/>
              <a:t>REMOVEFILTERS()</a:t>
            </a:r>
            <a:r>
              <a:rPr lang="en-US" dirty="0"/>
              <a:t> on large tables unless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925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3E6E-17DD-3234-C4CC-7E50C440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2E90-7AEA-DA1C-5980-DE475013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AA64-A30E-1D94-C11E-7B222997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Reduce the number of visuals per page</a:t>
            </a:r>
            <a:r>
              <a:rPr lang="en-US" dirty="0"/>
              <a:t> – each visual adds query overhead.</a:t>
            </a:r>
          </a:p>
          <a:p>
            <a:r>
              <a:rPr lang="en-US" b="1" dirty="0"/>
              <a:t>Avoid complex visuals</a:t>
            </a:r>
            <a:r>
              <a:rPr lang="en-US" dirty="0"/>
              <a:t> (like high-cardinality scatter plots) unless necessary.</a:t>
            </a:r>
          </a:p>
          <a:p>
            <a:r>
              <a:rPr lang="en-US" b="1" dirty="0"/>
              <a:t>Limit data points</a:t>
            </a:r>
            <a:r>
              <a:rPr lang="en-US" dirty="0"/>
              <a:t> in charts; use aggregated measures instead of raw records.</a:t>
            </a:r>
          </a:p>
          <a:p>
            <a:r>
              <a:rPr lang="en-US" b="1" dirty="0"/>
              <a:t>Use slicers efficiently:</a:t>
            </a:r>
            <a:r>
              <a:rPr lang="en-US" dirty="0"/>
              <a:t> Avoid multiple slicers on high-cardinality columns.</a:t>
            </a:r>
          </a:p>
          <a:p>
            <a:r>
              <a:rPr lang="en-US" b="1" dirty="0"/>
              <a:t>Use conditional formatting and KPIs carefully</a:t>
            </a:r>
            <a:r>
              <a:rPr lang="en-US" dirty="0"/>
              <a:t>, as they can slow rendering.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30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468C-616A-E44D-AC9E-FCC9D6D1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B2F7-A79C-2170-9230-DDCF36F8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Size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A359-4ADE-F95F-6E9C-B08AA55F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11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B6E2-340F-4312-437D-7A2FA66F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2D77-90E6-0968-3D19-C7A4BF6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F9684-445A-E485-0505-01670388C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Size Management</a:t>
            </a:r>
          </a:p>
          <a:p>
            <a:r>
              <a:rPr lang="en-US" b="1" dirty="0"/>
              <a:t>Points to be remembered: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Remove unnecessary columns and tables.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Filter data at the source</a:t>
            </a:r>
            <a:r>
              <a:rPr lang="en-US" dirty="0"/>
              <a:t> (SQL query / Power Query) before loading.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 summary tables</a:t>
            </a:r>
            <a:r>
              <a:rPr lang="en-US" dirty="0"/>
              <a:t> for historical data rather than storing all transactions.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Enable data type compression</a:t>
            </a:r>
            <a:r>
              <a:rPr lang="en-US" dirty="0"/>
              <a:t> in Power BI (integer, fixed decimal, etc.).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Partition large tables</a:t>
            </a:r>
            <a:r>
              <a:rPr lang="en-US" dirty="0"/>
              <a:t> for incremental refresh.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15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68D5-6CD8-9116-A3BE-105E1280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92E1-5641-E571-688C-9CF4E0BC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Performance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0E33-2D41-5FD8-9FA4-E2F833D63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83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7B11-7224-C91C-019B-54AF6536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C00F-AD99-9F67-491A-8835FCD4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3840-A5D4-6BB5-74B4-2F921040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Page Design:</a:t>
            </a:r>
            <a:endParaRPr lang="en-US" dirty="0"/>
          </a:p>
          <a:p>
            <a:pPr lvl="1"/>
            <a:r>
              <a:rPr lang="en-US" dirty="0"/>
              <a:t>Avoid too many visuals on a single page.</a:t>
            </a:r>
          </a:p>
          <a:p>
            <a:pPr lvl="1"/>
            <a:r>
              <a:rPr lang="en-US" dirty="0"/>
              <a:t>Keep </a:t>
            </a:r>
            <a:r>
              <a:rPr lang="en-US" b="1" dirty="0"/>
              <a:t>top-level KPIs</a:t>
            </a:r>
            <a:r>
              <a:rPr lang="en-US" dirty="0"/>
              <a:t> lightweight for quick loading.</a:t>
            </a:r>
          </a:p>
          <a:p>
            <a:r>
              <a:rPr lang="en-US" b="1" dirty="0"/>
              <a:t>Filters and Slicers: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/>
              <a:t>hierarchy filters</a:t>
            </a:r>
            <a:r>
              <a:rPr lang="en-US" dirty="0"/>
              <a:t> instead of multiple independent slicers.</a:t>
            </a:r>
          </a:p>
          <a:p>
            <a:pPr lvl="1"/>
            <a:r>
              <a:rPr lang="en-US" dirty="0"/>
              <a:t>Avoid excessive cross-filtering in complex dashboards.</a:t>
            </a:r>
          </a:p>
          <a:p>
            <a:r>
              <a:rPr lang="en-US" b="1" dirty="0"/>
              <a:t>Incremental Loading:</a:t>
            </a:r>
            <a:endParaRPr lang="en-US" dirty="0"/>
          </a:p>
          <a:p>
            <a:pPr lvl="1"/>
            <a:r>
              <a:rPr lang="en-US" dirty="0"/>
              <a:t>For large datasets, enable </a:t>
            </a:r>
            <a:r>
              <a:rPr lang="en-US" b="1" dirty="0"/>
              <a:t>incremental refresh</a:t>
            </a:r>
            <a:r>
              <a:rPr lang="en-US" dirty="0"/>
              <a:t> to improve load times.</a:t>
            </a:r>
          </a:p>
          <a:p>
            <a:r>
              <a:rPr lang="en-US" b="1" dirty="0"/>
              <a:t>Query Reduction:</a:t>
            </a:r>
            <a:endParaRPr lang="en-US" dirty="0"/>
          </a:p>
          <a:p>
            <a:pPr lvl="1"/>
            <a:r>
              <a:rPr lang="en-US" dirty="0"/>
              <a:t>Disable </a:t>
            </a:r>
            <a:r>
              <a:rPr lang="en-US" b="1" dirty="0"/>
              <a:t>auto date/time</a:t>
            </a:r>
            <a:r>
              <a:rPr lang="en-US" dirty="0"/>
              <a:t> if not needed.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aggregated tables</a:t>
            </a:r>
            <a:r>
              <a:rPr lang="en-US" dirty="0"/>
              <a:t> instead of querying raw transaction tables.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27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5598-27AE-EA4E-F94E-19E08C44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881C-7E65-2B06-CA9A-B1141DBE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1F1ED-B963-BADF-AD98-BBA356373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Dashboard UX Improvements During Migration</a:t>
            </a:r>
          </a:p>
          <a:p>
            <a:pPr lvl="1"/>
            <a:r>
              <a:rPr lang="en-US" b="1" dirty="0"/>
              <a:t>Consistency:</a:t>
            </a:r>
            <a:r>
              <a:rPr lang="en-US" dirty="0"/>
              <a:t> Match Tableau dashboard look with Power BI for a smooth user experience.</a:t>
            </a:r>
          </a:p>
          <a:p>
            <a:pPr lvl="1"/>
            <a:r>
              <a:rPr lang="en-US" b="1" dirty="0"/>
              <a:t>Navigation:</a:t>
            </a:r>
            <a:r>
              <a:rPr lang="en-US" dirty="0"/>
              <a:t> Use </a:t>
            </a:r>
            <a:r>
              <a:rPr lang="en-US" b="1" dirty="0"/>
              <a:t>buttons, bookmarks, and drill-through</a:t>
            </a:r>
            <a:r>
              <a:rPr lang="en-US" dirty="0"/>
              <a:t> instead of multiple complex filter actions.</a:t>
            </a:r>
          </a:p>
          <a:p>
            <a:pPr lvl="1"/>
            <a:r>
              <a:rPr lang="en-US" b="1" dirty="0"/>
              <a:t>Responsiveness:</a:t>
            </a:r>
            <a:r>
              <a:rPr lang="en-US" dirty="0"/>
              <a:t> Optimize visuals and slicers for faster interaction.</a:t>
            </a:r>
          </a:p>
          <a:p>
            <a:pPr lvl="1"/>
            <a:r>
              <a:rPr lang="en-US" b="1" dirty="0"/>
              <a:t>Color &amp; Layout:</a:t>
            </a:r>
            <a:r>
              <a:rPr lang="en-US" dirty="0"/>
              <a:t> Use a clean, consistent layout for clarity.</a:t>
            </a:r>
          </a:p>
          <a:p>
            <a:pPr lvl="1"/>
            <a:r>
              <a:rPr lang="en-US" b="1" dirty="0"/>
              <a:t>Tooltips &amp; Interactivity:</a:t>
            </a:r>
            <a:r>
              <a:rPr lang="en-US" dirty="0"/>
              <a:t> Use </a:t>
            </a:r>
            <a:r>
              <a:rPr lang="en-US" b="1" dirty="0"/>
              <a:t>enhanced tooltips</a:t>
            </a:r>
            <a:r>
              <a:rPr lang="en-US" dirty="0"/>
              <a:t> instead of extra visuals to reduce clutter.</a:t>
            </a:r>
          </a:p>
          <a:p>
            <a:pPr lvl="1"/>
            <a:r>
              <a:rPr lang="en-US" b="1" dirty="0"/>
              <a:t>Page Load Time:</a:t>
            </a:r>
            <a:r>
              <a:rPr lang="en-US" dirty="0"/>
              <a:t> Keep the first page lightweight for faster opening; heavy calculations can be deferred to secondary pages.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68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8F85-55DA-4D33-2E2C-6EB06DFD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A532-9C30-5D02-C17C-05458E94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43845-5B6F-559E-01E7-26138CFA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59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C11E-D97B-17CB-CCF2-C3FE8DB9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3353-8B83-C6F5-4065-11706773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45E4-1C0A-B5C4-10E6-55CD99160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302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{0772E1A3-BBB9-474A-AAC2-0B912B5374BC}TF427093bb-7ddc-497b-80f4-fe945bcee621ff7241c0_win32-add2936a5c77</Template>
  <TotalTime>630</TotalTime>
  <Words>1390</Words>
  <Application>Microsoft Office PowerPoint</Application>
  <PresentationFormat>Widescreen</PresentationFormat>
  <Paragraphs>199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 Black</vt:lpstr>
      <vt:lpstr>Bookman Old Style</vt:lpstr>
      <vt:lpstr>Calibri</vt:lpstr>
      <vt:lpstr>Franklin Gothic Book</vt:lpstr>
      <vt:lpstr>Wingdings</vt:lpstr>
      <vt:lpstr>1_RetrospectVTI</vt:lpstr>
      <vt:lpstr>PowerPoint Presentation</vt:lpstr>
      <vt:lpstr>Table of Content</vt:lpstr>
      <vt:lpstr>Recap-Day02</vt:lpstr>
      <vt:lpstr>Day 03’s Agenda</vt:lpstr>
      <vt:lpstr>Understanding Tableau Dashboard Structure</vt:lpstr>
      <vt:lpstr>PowerPoint Presentation</vt:lpstr>
      <vt:lpstr>Tableau Dashboard Layout vs Power BI Reports</vt:lpstr>
      <vt:lpstr>PowerPoint Presentation</vt:lpstr>
      <vt:lpstr>Visual Mapping Strategy</vt:lpstr>
      <vt:lpstr>PowerPoint Presentation</vt:lpstr>
      <vt:lpstr>Migration from Chart to Chart</vt:lpstr>
      <vt:lpstr>Activity</vt:lpstr>
      <vt:lpstr>Filters vs Slicers</vt:lpstr>
      <vt:lpstr>PowerPoint Presentation</vt:lpstr>
      <vt:lpstr>Dashboard Layout &amp; Design Conversion</vt:lpstr>
      <vt:lpstr>PowerPoint Presentation</vt:lpstr>
      <vt:lpstr>Drill-through &amp; Navigation</vt:lpstr>
      <vt:lpstr>Interactivity &amp; Cross Filtering</vt:lpstr>
      <vt:lpstr>PowerPoint Presentation</vt:lpstr>
      <vt:lpstr>Parameter Conversion</vt:lpstr>
      <vt:lpstr>PowerPoint Presentation</vt:lpstr>
      <vt:lpstr>Best Practices for Dashboard Migration</vt:lpstr>
      <vt:lpstr>PowerPoint Presentation</vt:lpstr>
      <vt:lpstr>PowerPoint Presentation</vt:lpstr>
      <vt:lpstr>Performance Optimization &amp; Best Practices</vt:lpstr>
      <vt:lpstr>Model Optimization</vt:lpstr>
      <vt:lpstr>PowerPoint Presentation</vt:lpstr>
      <vt:lpstr>DAX Performance Tips</vt:lpstr>
      <vt:lpstr>Visual Optimization</vt:lpstr>
      <vt:lpstr>Dataset Size Management</vt:lpstr>
      <vt:lpstr>PowerPoint Presentation</vt:lpstr>
      <vt:lpstr>Dashboard Performance Considerations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Harmeet Sehra</dc:creator>
  <cp:lastModifiedBy>Harmeet Sehra</cp:lastModifiedBy>
  <cp:revision>229</cp:revision>
  <dcterms:created xsi:type="dcterms:W3CDTF">2026-03-15T10:40:27Z</dcterms:created>
  <dcterms:modified xsi:type="dcterms:W3CDTF">2026-03-18T11:31:43Z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