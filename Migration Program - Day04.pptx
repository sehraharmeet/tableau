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33"/>
  </p:notesMasterIdLst>
  <p:sldIdLst>
    <p:sldId id="268" r:id="rId5"/>
    <p:sldId id="375" r:id="rId6"/>
    <p:sldId id="465" r:id="rId7"/>
    <p:sldId id="376" r:id="rId8"/>
    <p:sldId id="405" r:id="rId9"/>
    <p:sldId id="406" r:id="rId10"/>
    <p:sldId id="516" r:id="rId11"/>
    <p:sldId id="517" r:id="rId12"/>
    <p:sldId id="518" r:id="rId13"/>
    <p:sldId id="466" r:id="rId14"/>
    <p:sldId id="467" r:id="rId15"/>
    <p:sldId id="519" r:id="rId16"/>
    <p:sldId id="520" r:id="rId17"/>
    <p:sldId id="468" r:id="rId18"/>
    <p:sldId id="521" r:id="rId19"/>
    <p:sldId id="469" r:id="rId20"/>
    <p:sldId id="522" r:id="rId21"/>
    <p:sldId id="523" r:id="rId22"/>
    <p:sldId id="525" r:id="rId23"/>
    <p:sldId id="527" r:id="rId24"/>
    <p:sldId id="470" r:id="rId25"/>
    <p:sldId id="526" r:id="rId26"/>
    <p:sldId id="471" r:id="rId27"/>
    <p:sldId id="528" r:id="rId28"/>
    <p:sldId id="472" r:id="rId29"/>
    <p:sldId id="473" r:id="rId30"/>
    <p:sldId id="474" r:id="rId31"/>
    <p:sldId id="475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410A"/>
    <a:srgbClr val="EAC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95" autoAdjust="0"/>
    <p:restoredTop sz="95481" autoAdjust="0"/>
  </p:normalViewPr>
  <p:slideViewPr>
    <p:cSldViewPr snapToGrid="0">
      <p:cViewPr>
        <p:scale>
          <a:sx n="100" d="100"/>
          <a:sy n="100" d="100"/>
        </p:scale>
        <p:origin x="12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F674F-241E-4620-AFAC-E5346871AAF8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AD1AA-7397-4AB3-BB9C-83FBD869A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43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AD1AA-7397-4AB3-BB9C-83FBD869A7C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516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AD1AA-7397-4AB3-BB9C-83FBD869A7C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20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2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010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0401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23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775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60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23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850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398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907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4179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2478E9F1-78CB-3C09-8784-F102EF3416D1}"/>
              </a:ext>
            </a:extLst>
          </p:cNvPr>
          <p:cNvSpPr/>
          <p:nvPr/>
        </p:nvSpPr>
        <p:spPr>
          <a:xfrm>
            <a:off x="684336" y="4098875"/>
            <a:ext cx="11112500" cy="800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06FE400-464F-B185-4F6D-3EC2ABCDA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914" y="326643"/>
            <a:ext cx="9168171" cy="6112114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54CF3C40-8FA6-186E-4746-A85C6D68800F}"/>
              </a:ext>
            </a:extLst>
          </p:cNvPr>
          <p:cNvSpPr txBox="1">
            <a:spLocks/>
          </p:cNvSpPr>
          <p:nvPr/>
        </p:nvSpPr>
        <p:spPr>
          <a:xfrm>
            <a:off x="3014149" y="5815520"/>
            <a:ext cx="6989748" cy="4463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b="1">
                <a:solidFill>
                  <a:srgbClr val="52410A"/>
                </a:solidFill>
                <a:latin typeface="Arial Black" panose="020B0A04020102020204" pitchFamily="34" charset="0"/>
              </a:rPr>
              <a:t>Harmeet Singh Sehra</a:t>
            </a:r>
            <a:endParaRPr lang="en-US" b="1" dirty="0">
              <a:solidFill>
                <a:srgbClr val="52410A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5C0586-6DAC-E5A1-0AA8-AD9166690F0E}"/>
              </a:ext>
            </a:extLst>
          </p:cNvPr>
          <p:cNvSpPr/>
          <p:nvPr/>
        </p:nvSpPr>
        <p:spPr>
          <a:xfrm>
            <a:off x="10205103" y="1961163"/>
            <a:ext cx="1433406" cy="264687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600" b="1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12747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C868D-5D9E-360D-8008-7F37C56DA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1823D-7181-2AEB-EC10-2C016E921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 </a:t>
            </a:r>
            <a:br>
              <a:rPr lang="en-US" dirty="0"/>
            </a:br>
            <a:r>
              <a:rPr lang="en-US" dirty="0"/>
              <a:t>from Tableau to POWER 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7ED20-14B3-F1B1-C8B8-AA47340E7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975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A2A2C-8220-6D99-4413-57B56D9E6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5F008-0F20-5F05-6865-8A23D6597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Migration </a:t>
            </a:r>
            <a:br>
              <a:rPr lang="en-US" dirty="0"/>
            </a:br>
            <a:r>
              <a:rPr lang="en-US" dirty="0"/>
              <a:t>from Tableau to POWER 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E3C93-2C25-30A9-5997-A6E8C2CDE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Do u feel in migration from tableau to power bi, before migrating visualization from tableau to power bi, we should also understand dataset from tableau as well. or what u feel we should follow in terms of steps. I mean tableau project is already created by someone and our job is to migrate to power bi. </a:t>
            </a:r>
          </a:p>
          <a:p>
            <a:pPr algn="just"/>
            <a:r>
              <a:rPr lang="en-US" dirty="0"/>
              <a:t>what should </a:t>
            </a:r>
            <a:r>
              <a:rPr lang="en-US" dirty="0" err="1"/>
              <a:t>i</a:t>
            </a:r>
            <a:r>
              <a:rPr lang="en-US" dirty="0"/>
              <a:t> follow?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141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D2828-0D94-6EBE-AA1A-4514D5477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72C85-DC03-EE2D-D18F-D87BFD4E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98A9A-EFE9-C356-E487-2774FC254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Understanding the dataset is NOT optional. It’s the foundation.</a:t>
            </a:r>
          </a:p>
          <a:p>
            <a:r>
              <a:rPr lang="en-US" dirty="0"/>
              <a:t>If you skip that and jump straight into visuals, your Power BI report will </a:t>
            </a:r>
            <a:r>
              <a:rPr lang="en-US" i="1" dirty="0"/>
              <a:t>look similar but behave wrong</a:t>
            </a:r>
            <a:r>
              <a:rPr lang="en-US" dirty="0"/>
              <a:t>.</a:t>
            </a:r>
          </a:p>
          <a:p>
            <a:r>
              <a:rPr lang="en-US" dirty="0"/>
              <a:t>Let see a </a:t>
            </a:r>
            <a:r>
              <a:rPr lang="en-US" b="1" dirty="0"/>
              <a:t>practical migration approach (real-world style)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15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48F85-55DA-4D33-2E2C-6EB06DFD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FA532-9C30-5D02-C17C-05458E946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Tableau → Power BI </a:t>
            </a:r>
            <a:br>
              <a:rPr lang="en-US" dirty="0"/>
            </a:br>
            <a:r>
              <a:rPr lang="en-US" dirty="0"/>
              <a:t>Migration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43845-5B6F-559E-01E7-26138CFA1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59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1CC11E-D97B-17CB-CCF2-C3FE8DB9A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E3353-8B83-C6F5-4065-11706773D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Understand the Business First (NOT the tool)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345E4-1C0A-B5C4-10E6-55CD99160A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Before even opening anything: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is this dashboard solving?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Who uses it? (Sales head, manager, analyst)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decisions are taken?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FA4670-1348-F4B5-CCDF-413C3F282FB3}"/>
              </a:ext>
            </a:extLst>
          </p:cNvPr>
          <p:cNvSpPr txBox="1"/>
          <p:nvPr/>
        </p:nvSpPr>
        <p:spPr>
          <a:xfrm>
            <a:off x="5363419" y="6010683"/>
            <a:ext cx="6096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Many people skip this and blindly copy charts — </a:t>
            </a:r>
            <a:r>
              <a:rPr lang="en-US" b="1" dirty="0"/>
              <a:t>big mistake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373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A1DC5-D96F-37CD-6551-4322C78B9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0EB2E-17B2-3031-5499-588F45588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You’re not migrating a dashboard…</a:t>
            </a:r>
            <a:br>
              <a:rPr lang="en-US" dirty="0"/>
            </a:br>
            <a:r>
              <a:rPr lang="en-US" dirty="0"/>
              <a:t>	=&gt; You’re migrating </a:t>
            </a:r>
            <a:r>
              <a:rPr lang="en-US" b="1" dirty="0"/>
              <a:t>decision-making capability</a:t>
            </a:r>
          </a:p>
          <a:p>
            <a:endParaRPr lang="en-US" b="1" dirty="0"/>
          </a:p>
          <a:p>
            <a:r>
              <a:rPr lang="en-US" b="1" dirty="0"/>
              <a:t>A. What is this dashboard solving?</a:t>
            </a:r>
          </a:p>
          <a:p>
            <a:r>
              <a:rPr lang="en-US" dirty="0"/>
              <a:t>Don’t think in terms of charts. Think in terms of </a:t>
            </a:r>
            <a:r>
              <a:rPr lang="en-US" b="1" dirty="0"/>
              <a:t>business problems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B. Who uses it?</a:t>
            </a:r>
          </a:p>
          <a:p>
            <a:r>
              <a:rPr lang="en-US" dirty="0"/>
              <a:t>This changes EVERYTHING in Power BI design.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882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61C70-C676-9E82-4D38-7B545A3E1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Mapping to PURPOSE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24C7E4-F825-EFF2-4158-D4FDB3AF20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6746815"/>
              </p:ext>
            </p:extLst>
          </p:nvPr>
        </p:nvGraphicFramePr>
        <p:xfrm>
          <a:off x="1096963" y="3257074"/>
          <a:ext cx="10058400" cy="146304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326154554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1024140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Dashboard Type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 Purpose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954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Sales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Track revenue, identify low-performing regions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2353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Marketing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Measure campaign effectiveness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3078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Operations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Monitor delays, inefficiencies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060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917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4EE81-060A-F7AD-0463-E1947D13A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Practical Approach (When Tableau File is Given)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952C1-E675-5E8C-D99A-F6EA00513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you open Tableau:</a:t>
            </a:r>
          </a:p>
          <a:p>
            <a:r>
              <a:rPr lang="en-US" b="1" dirty="0"/>
              <a:t>Step 1:</a:t>
            </a:r>
          </a:p>
          <a:p>
            <a:pPr lvl="1"/>
            <a:r>
              <a:rPr lang="en-US" dirty="0"/>
              <a:t>Pick ONE sheet at a time</a:t>
            </a:r>
          </a:p>
          <a:p>
            <a:r>
              <a:rPr lang="en-US" b="1" dirty="0"/>
              <a:t>Step 2:</a:t>
            </a:r>
          </a:p>
          <a:p>
            <a:pPr lvl="1"/>
            <a:r>
              <a:rPr lang="en-US" dirty="0"/>
              <a:t>Ask:</a:t>
            </a:r>
          </a:p>
          <a:p>
            <a:pPr lvl="1"/>
            <a:r>
              <a:rPr lang="en-US" dirty="0"/>
              <a:t>What question is this answering?</a:t>
            </a:r>
          </a:p>
          <a:p>
            <a:pPr lvl="1"/>
            <a:r>
              <a:rPr lang="en-US" dirty="0"/>
              <a:t>Who would care about this?</a:t>
            </a:r>
          </a:p>
          <a:p>
            <a:r>
              <a:rPr lang="en-US" b="1" dirty="0"/>
              <a:t>Step 3:</a:t>
            </a:r>
          </a:p>
          <a:p>
            <a:pPr lvl="1"/>
            <a:r>
              <a:rPr lang="en-US" dirty="0"/>
              <a:t>Write it like:</a:t>
            </a:r>
            <a:br>
              <a:rPr lang="en-US" dirty="0"/>
            </a:br>
            <a:r>
              <a:rPr lang="en-US" dirty="0"/>
              <a:t>“This visual helps [user] to [decision]”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390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76F2-6EF3-FF9A-FB8A-30BC047ED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Analyze Tableau Dashboard (Front-End)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85107-2647-DE08-EC43-C071226D4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Tableau and check: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 sheets (charts)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Filters (global vs local)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Actions (drill-down, highlight, navigation)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Calculated fields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17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4541C-1CEC-0B07-E51F-165687617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B2F45-3467-52DB-9AAC-71BEA2C02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F4BB9-C841-68CF-A643-813B51810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simple mapping like: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E61AC6-576C-22D6-3254-CF4C2F189999}"/>
              </a:ext>
            </a:extLst>
          </p:cNvPr>
          <p:cNvSpPr txBox="1"/>
          <p:nvPr/>
        </p:nvSpPr>
        <p:spPr>
          <a:xfrm>
            <a:off x="3200400" y="3429000"/>
            <a:ext cx="6096000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dirty="0"/>
              <a:t>Sheets mapping</a:t>
            </a:r>
          </a:p>
          <a:p>
            <a:pPr algn="ctr"/>
            <a:r>
              <a:rPr lang="en-US" sz="2400" dirty="0"/>
              <a:t>Filters mapping</a:t>
            </a:r>
          </a:p>
          <a:p>
            <a:pPr algn="ctr"/>
            <a:r>
              <a:rPr lang="en-US" sz="2400" dirty="0"/>
              <a:t>Actions mapping</a:t>
            </a:r>
          </a:p>
          <a:p>
            <a:pPr algn="ctr"/>
            <a:r>
              <a:rPr lang="en-US" sz="2400" dirty="0"/>
              <a:t>Calculations mapping</a:t>
            </a:r>
          </a:p>
        </p:txBody>
      </p:sp>
    </p:spTree>
    <p:extLst>
      <p:ext uri="{BB962C8B-B14F-4D97-AF65-F5344CB8AC3E}">
        <p14:creationId xmlns:p14="http://schemas.microsoft.com/office/powerpoint/2010/main" val="15214280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04E6D-1AED-EF84-50AB-AA075EC44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138" y="327854"/>
            <a:ext cx="5177017" cy="5582489"/>
          </a:xfrm>
          <a:solidFill>
            <a:schemeClr val="bg1"/>
          </a:solidFill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highlight>
                  <a:srgbClr val="FFFF00"/>
                </a:highlight>
              </a:rPr>
              <a:t>A. All Sheets (Charts)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In Tableau: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Each chart = Sheet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Dashboard = combination of multiple sheets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For EACH sheet: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1. Chart Type : Bar, Line, Map, Table, KPI, etc.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2. Fields Used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	Dimension → Category (Region, Product)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	Measure → Values (Sales, Profit)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3. Aggregation Level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	SUM(Sales)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	AVG(Profit)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	COUNTD(Customer)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4. Granularity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	“At what level is this chart showing data?”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	Region level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	Product level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	Date level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5. Hidden Logic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	Top N filters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	Conditional formatting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		Custom grouping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C15C83-88D7-4F93-1F41-EED131813334}"/>
              </a:ext>
            </a:extLst>
          </p:cNvPr>
          <p:cNvSpPr txBox="1">
            <a:spLocks/>
          </p:cNvSpPr>
          <p:nvPr/>
        </p:nvSpPr>
        <p:spPr>
          <a:xfrm>
            <a:off x="5752240" y="327853"/>
            <a:ext cx="5951622" cy="3219743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highlight>
                  <a:srgbClr val="FFFF00"/>
                </a:highlight>
              </a:rPr>
              <a:t>B. Filters (VERY IMPORTANT)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0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Filters define how users interact.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1. Global Filters (Apply to all sheets)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highlight>
                  <a:srgbClr val="C0C0C0"/>
                </a:highlight>
              </a:rPr>
              <a:t> </a:t>
            </a:r>
            <a:r>
              <a:rPr lang="en-US" sz="1400" dirty="0">
                <a:highlight>
                  <a:srgbClr val="C0C0C0"/>
                </a:highlight>
              </a:rPr>
              <a:t>Use </a:t>
            </a:r>
            <a:r>
              <a:rPr lang="en-US" sz="1400" b="1" dirty="0">
                <a:highlight>
                  <a:srgbClr val="C0C0C0"/>
                </a:highlight>
              </a:rPr>
              <a:t>Slicers</a:t>
            </a:r>
            <a:endParaRPr lang="en-US" sz="1400" dirty="0">
              <a:highlight>
                <a:srgbClr val="C0C0C0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2. Local Filters (Sheet-level)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>
                <a:highlight>
                  <a:srgbClr val="C0C0C0"/>
                </a:highlight>
              </a:rPr>
              <a:t> </a:t>
            </a:r>
            <a:r>
              <a:rPr lang="en-US" sz="1400" dirty="0">
                <a:highlight>
                  <a:srgbClr val="C0C0C0"/>
                </a:highlight>
              </a:rPr>
              <a:t>Visual-level filters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 dirty="0"/>
              <a:t>3. Context Filters (Affect other filters)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highlight>
                  <a:srgbClr val="C0C0C0"/>
                </a:highlight>
              </a:rPr>
              <a:t>Managed via DAX / relationships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177909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B8A437A-A1F4-B431-FBCD-263E50CA26D5}"/>
              </a:ext>
            </a:extLst>
          </p:cNvPr>
          <p:cNvSpPr txBox="1">
            <a:spLocks/>
          </p:cNvSpPr>
          <p:nvPr/>
        </p:nvSpPr>
        <p:spPr>
          <a:xfrm>
            <a:off x="625643" y="481263"/>
            <a:ext cx="4668252" cy="5266393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highlight>
                  <a:srgbClr val="FFFF00"/>
                </a:highlight>
              </a:rPr>
              <a:t>C. Actions (CRITICAL for behavior)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This is where Tableau is very interactive.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1. Filter Action (Drill-down)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Click on chart → filters another chart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highlight>
                  <a:srgbClr val="C0C0C0"/>
                </a:highlight>
              </a:rPr>
              <a:t>Power BI: Default cross-filtering OR Drill-through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2. Highlight Action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Hover/click → highlights related data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highlight>
                  <a:srgbClr val="C0C0C0"/>
                </a:highlight>
              </a:rPr>
              <a:t>Power BI: Cross-highlighting (automatic)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3. Navigation Action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Button → moves to another dashboard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highlight>
                  <a:srgbClr val="C0C0C0"/>
                </a:highlight>
              </a:rPr>
              <a:t>Power BI: Buttons + Page navigation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4. URL Action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Click → opens link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highlight>
                  <a:srgbClr val="C0C0C0"/>
                </a:highlight>
              </a:rPr>
              <a:t>Power BI: Buttons / conditional formatting with URLs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1E5B4EA-3732-A3A8-C952-71BC4CA32762}"/>
              </a:ext>
            </a:extLst>
          </p:cNvPr>
          <p:cNvSpPr txBox="1">
            <a:spLocks/>
          </p:cNvSpPr>
          <p:nvPr/>
        </p:nvSpPr>
        <p:spPr>
          <a:xfrm>
            <a:off x="5927559" y="481263"/>
            <a:ext cx="4668252" cy="5266393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highlight>
                  <a:srgbClr val="FFFF00"/>
                </a:highlight>
              </a:rPr>
              <a:t>D. Calculated Fields (Brain of Dashboard)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Types of Calculations in Tableau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1. Simple Calculations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Profit Ratio = SUM(Profit) / SUM(Sales)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highlight>
                  <a:srgbClr val="C0C0C0"/>
                </a:highlight>
              </a:rPr>
              <a:t>DAX Measure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2. IF Conditions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IF SUM(Sales) &gt; 10000 THEN "High" ELSE "Low" END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highlight>
                  <a:srgbClr val="C0C0C0"/>
                </a:highlight>
              </a:rPr>
              <a:t>IF / SWITCH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3. LOD Expressions (VERY IMPORTANT)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{ FIXED [Region] : SUM(Sales) }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highlight>
                  <a:srgbClr val="C0C0C0"/>
                </a:highlight>
              </a:rPr>
              <a:t>CALCULATE + ALL / ALLEXCEPT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200" b="1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4. Table Calculations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/>
              <a:t>Running total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dirty="0">
                <a:highlight>
                  <a:srgbClr val="C0C0C0"/>
                </a:highlight>
              </a:rPr>
              <a:t>DAX time intelligence</a:t>
            </a:r>
          </a:p>
        </p:txBody>
      </p:sp>
    </p:spTree>
    <p:extLst>
      <p:ext uri="{BB962C8B-B14F-4D97-AF65-F5344CB8AC3E}">
        <p14:creationId xmlns:p14="http://schemas.microsoft.com/office/powerpoint/2010/main" val="314816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569A2-7B06-E768-D199-0BA1E30AB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0A4FF-6E25-8F4C-8B99-17FBCFCF3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Understand Dataset (MOST CRITICAL STEP)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F473A-2289-1EF3-E85F-82885ED2C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This is where most migrations fail.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Check in Tableau: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Data Source tab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Joins / relationships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Extract vs Live connection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Custom SQL (if used)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3354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94478-5D1A-2787-330D-D126310EB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Tableau shows visuals</a:t>
            </a:r>
            <a:br>
              <a:rPr lang="en-US" dirty="0"/>
            </a:br>
            <a:r>
              <a:rPr lang="en-US" dirty="0"/>
              <a:t>But dataset defines truth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DDF21-C1AC-9DC4-3FE0-3321CE18A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075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66832-89DD-6895-062A-5D1EF5740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FE1E0-7788-56FF-3809-DA9FA7C83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CDA3F-4B58-E77B-CCE4-B7E549BCA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You must identify:</a:t>
            </a:r>
          </a:p>
          <a:p>
            <a:pPr lvl="1"/>
            <a:r>
              <a:rPr lang="en-US" dirty="0"/>
              <a:t>Fact table (Sales, Transactions)</a:t>
            </a:r>
          </a:p>
          <a:p>
            <a:pPr lvl="1"/>
            <a:r>
              <a:rPr lang="en-US" dirty="0"/>
              <a:t>Dimension tables (Region, Product, Date)</a:t>
            </a:r>
          </a:p>
          <a:p>
            <a:pPr lvl="1"/>
            <a:r>
              <a:rPr lang="en-US" dirty="0"/>
              <a:t>Calculated columns already created</a:t>
            </a:r>
          </a:p>
          <a:p>
            <a:pPr lvl="1"/>
            <a:r>
              <a:rPr lang="en-US" dirty="0"/>
              <a:t>Aggregation level (row-level or summary)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7269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B689E-846D-6299-5BF6-91240C312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738" y="584201"/>
            <a:ext cx="5688148" cy="4989285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highlight>
                  <a:srgbClr val="FFFF00"/>
                </a:highlight>
              </a:rPr>
              <a:t>A. Data Source Tab (Your Starting Point)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Open Tableau → Go to Data Source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1. Number of Tables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Single table?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Multiple tables?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highlight>
                  <a:srgbClr val="C0C0C0"/>
                </a:highlight>
              </a:rPr>
              <a:t>Think of: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highlight>
                  <a:srgbClr val="C0C0C0"/>
                </a:highlight>
              </a:rPr>
              <a:t>	Simple model vs complex model in Power BI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>
              <a:highlight>
                <a:srgbClr val="C0C0C0"/>
              </a:highlight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2. Table Names &amp; Meaning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Orders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Customers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Products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highlight>
                  <a:srgbClr val="C0C0C0"/>
                </a:highlight>
              </a:rPr>
              <a:t>Think of: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highlight>
                  <a:srgbClr val="C0C0C0"/>
                </a:highlight>
              </a:rPr>
              <a:t>	Which is transactional?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highlight>
                  <a:srgbClr val="C0C0C0"/>
                </a:highlight>
              </a:rPr>
              <a:t>	Which is lookup?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FD5BAB-6FAC-8ABF-22A4-92D555F49C4F}"/>
              </a:ext>
            </a:extLst>
          </p:cNvPr>
          <p:cNvSpPr txBox="1">
            <a:spLocks/>
          </p:cNvSpPr>
          <p:nvPr/>
        </p:nvSpPr>
        <p:spPr>
          <a:xfrm>
            <a:off x="6148251" y="731157"/>
            <a:ext cx="5201919" cy="4989285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highlight>
                  <a:srgbClr val="FFFF00"/>
                </a:highlight>
              </a:rPr>
              <a:t>B. Joins / Relationships (CRITICAL)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Tableau allows: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Joins (physical layer)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Relationships (logical layer)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1. Join Type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Inner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Left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Right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Full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2. Join Keys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 err="1"/>
              <a:t>Orders.CustomerID</a:t>
            </a:r>
            <a:r>
              <a:rPr lang="en-US" sz="1400" dirty="0"/>
              <a:t> = </a:t>
            </a:r>
            <a:r>
              <a:rPr lang="en-US" sz="1400" dirty="0" err="1"/>
              <a:t>Customers.CustomerID</a:t>
            </a: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3. Many-to-Many Issues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Both tables have duplicates</a:t>
            </a:r>
          </a:p>
        </p:txBody>
      </p:sp>
    </p:spTree>
    <p:extLst>
      <p:ext uri="{BB962C8B-B14F-4D97-AF65-F5344CB8AC3E}">
        <p14:creationId xmlns:p14="http://schemas.microsoft.com/office/powerpoint/2010/main" val="1264676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88959-CB72-D7CE-E087-478F123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EA4D3-C1D7-3765-39CE-7C4F1888B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738" y="584201"/>
            <a:ext cx="4556034" cy="4989285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dirty="0">
                <a:highlight>
                  <a:srgbClr val="FFFF00"/>
                </a:highlight>
              </a:rPr>
              <a:t>C. </a:t>
            </a:r>
            <a:r>
              <a:rPr lang="fr-FR" sz="1400" dirty="0" err="1">
                <a:highlight>
                  <a:srgbClr val="FFFF00"/>
                </a:highlight>
              </a:rPr>
              <a:t>Identify</a:t>
            </a:r>
            <a:r>
              <a:rPr lang="fr-FR" sz="1400" dirty="0">
                <a:highlight>
                  <a:srgbClr val="FFFF00"/>
                </a:highlight>
              </a:rPr>
              <a:t> Fact &amp; Dimension Tables (CORE CONCEPT)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fr-FR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dirty="0"/>
              <a:t>1. Fact Table (Main Data)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dirty="0" err="1"/>
              <a:t>Contains</a:t>
            </a:r>
            <a:r>
              <a:rPr lang="fr-FR" sz="1400" dirty="0"/>
              <a:t>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dirty="0"/>
              <a:t>Transactions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fr-FR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dirty="0"/>
              <a:t>2. Dimension Tables (Descriptive Data)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fr-FR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dirty="0" err="1"/>
              <a:t>Contains</a:t>
            </a:r>
            <a:r>
              <a:rPr lang="fr-FR" sz="1400" dirty="0"/>
              <a:t>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1400" dirty="0"/>
              <a:t>Labels / </a:t>
            </a:r>
            <a:r>
              <a:rPr lang="fr-FR" sz="1400" dirty="0" err="1"/>
              <a:t>categories</a:t>
            </a:r>
            <a:endParaRPr lang="fr-FR" sz="14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9C99865-D2DD-7B69-BAC2-403D33D4DD52}"/>
              </a:ext>
            </a:extLst>
          </p:cNvPr>
          <p:cNvSpPr txBox="1">
            <a:spLocks/>
          </p:cNvSpPr>
          <p:nvPr/>
        </p:nvSpPr>
        <p:spPr>
          <a:xfrm>
            <a:off x="5101771" y="520700"/>
            <a:ext cx="6204857" cy="4989285"/>
          </a:xfrm>
          <a:prstGeom prst="rect">
            <a:avLst/>
          </a:prstGeom>
          <a:solidFill>
            <a:schemeClr val="bg1"/>
          </a:solidFill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highlight>
                  <a:srgbClr val="FFFF00"/>
                </a:highlight>
              </a:rPr>
              <a:t>D. Custom SQL (Hidden Logic)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In Tableau: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Sometimes data is not tables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It’s SQL query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Example: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SELECT Region, SUM(Sales) as </a:t>
            </a:r>
            <a:r>
              <a:rPr lang="en-US" sz="1400" dirty="0" err="1"/>
              <a:t>TotalSales</a:t>
            </a: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FROM Orders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GROUP BY Region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This is already aggregated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892097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676F9-61D2-4F9A-346A-06D51A93B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DF9F1-464B-E1B2-86D7-4109C1CD7D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738" y="584201"/>
            <a:ext cx="4556034" cy="4989285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highlight>
                  <a:srgbClr val="FFFF00"/>
                </a:highlight>
              </a:rPr>
              <a:t>F. Calculated Columns in Tableau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Fields created in Tableau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Types: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1. Row-level calculations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Profit = Sales - Cost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highlight>
                  <a:srgbClr val="C0C0C0"/>
                </a:highlight>
              </a:rPr>
              <a:t>Calculated Column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2. Aggregated calculations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/>
              <a:t>SUM(Sales)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en-US" sz="1400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highlight>
                  <a:srgbClr val="C0C0C0"/>
                </a:highlight>
              </a:rPr>
              <a:t>Measure</a:t>
            </a:r>
            <a:endParaRPr lang="fr-FR" sz="1400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71128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6D983-B13B-2405-F231-FB0817500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3A61A-AFC1-7377-4BBB-21F6994AF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25BE27-ACBB-D58F-EE5D-E7ECE4D0F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217" y="142706"/>
            <a:ext cx="9055565" cy="657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12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EE73AB-BA73-46D8-FDBD-B39B7B812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5A03B-6762-1AE6-CCDC-075691E5E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Extract / Get Data from Tableau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18D2D-3EE6-B437-9C25-871810AB8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Options:</a:t>
            </a:r>
          </a:p>
          <a:p>
            <a:pPr lvl="1"/>
            <a:r>
              <a:rPr lang="en-US" dirty="0"/>
              <a:t>Export data (if allowed)</a:t>
            </a:r>
          </a:p>
          <a:p>
            <a:pPr lvl="1"/>
            <a:r>
              <a:rPr lang="en-US" dirty="0"/>
              <a:t>Access original source (best option)</a:t>
            </a:r>
          </a:p>
          <a:p>
            <a:pPr lvl="1"/>
            <a:r>
              <a:rPr lang="en-US" dirty="0"/>
              <a:t>Reuse SQL queries from Tableau</a:t>
            </a:r>
          </a:p>
          <a:p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969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9DE8E-282A-4147-1508-2A842AE86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D21F0-3278-9853-3104-DCC9371F0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34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D286F6-3F6D-6825-E738-135FC83F2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1BA62-34B6-6F55-F158-6EBC403AC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Data Modeling in Power BI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4916C-F823-4FF0-D0D0-ABFDAE95E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where Power BI is stronger than Tableau.</a:t>
            </a:r>
          </a:p>
          <a:p>
            <a:r>
              <a:rPr lang="en-US" dirty="0"/>
              <a:t>Create </a:t>
            </a:r>
            <a:r>
              <a:rPr lang="en-US" b="1" dirty="0"/>
              <a:t>Star Schema</a:t>
            </a:r>
            <a:endParaRPr lang="en-US" dirty="0"/>
          </a:p>
          <a:p>
            <a:pPr lvl="1"/>
            <a:r>
              <a:rPr lang="en-US" dirty="0"/>
              <a:t>Fact table in center</a:t>
            </a:r>
          </a:p>
          <a:p>
            <a:pPr lvl="1"/>
            <a:r>
              <a:rPr lang="en-US" dirty="0"/>
              <a:t>Dimension tables around</a:t>
            </a:r>
          </a:p>
          <a:p>
            <a:r>
              <a:rPr lang="en-US" dirty="0"/>
              <a:t>Define relationships</a:t>
            </a:r>
          </a:p>
          <a:p>
            <a:r>
              <a:rPr lang="en-US" dirty="0"/>
              <a:t>Create Date table (important)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0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041F-1BC2-662F-2CAF-9A1D18F70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E18B9-2856-4578-D01D-EE0FA4DD4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Star Schema</a:t>
            </a:r>
            <a:r>
              <a:rPr lang="en-US" dirty="0"/>
              <a:t> is a data modeling approach where:</a:t>
            </a:r>
          </a:p>
          <a:p>
            <a:pPr lvl="1"/>
            <a:r>
              <a:rPr lang="en-US" dirty="0"/>
              <a:t>One </a:t>
            </a:r>
            <a:r>
              <a:rPr lang="en-US" b="1" dirty="0"/>
              <a:t>central table (Fact)</a:t>
            </a:r>
            <a:endParaRPr lang="en-US" dirty="0"/>
          </a:p>
          <a:p>
            <a:pPr lvl="1"/>
            <a:r>
              <a:rPr lang="en-US" dirty="0"/>
              <a:t>Multiple </a:t>
            </a:r>
            <a:r>
              <a:rPr lang="en-US" b="1" dirty="0"/>
              <a:t>surrounding tables (Dimensions)</a:t>
            </a:r>
            <a:endParaRPr lang="en-US" dirty="0"/>
          </a:p>
          <a:p>
            <a:r>
              <a:rPr lang="en-US" dirty="0"/>
              <a:t>Step 1: Identify FACT vs DIMENSIONS</a:t>
            </a:r>
          </a:p>
          <a:p>
            <a:r>
              <a:rPr lang="en-US" dirty="0"/>
              <a:t>Step 2: Replace Text with IDs</a:t>
            </a:r>
          </a:p>
          <a:p>
            <a:r>
              <a:rPr lang="en-US" dirty="0"/>
              <a:t>Step 3: Create Relationships in Power BI</a:t>
            </a:r>
          </a:p>
        </p:txBody>
      </p:sp>
    </p:spTree>
    <p:extLst>
      <p:ext uri="{BB962C8B-B14F-4D97-AF65-F5344CB8AC3E}">
        <p14:creationId xmlns:p14="http://schemas.microsoft.com/office/powerpoint/2010/main" val="3948139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FFB569-4728-42DF-FBFF-445BDEC8F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AE0A5-B593-C05C-5C84-261E6E7C0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Recreate Calculations (Tableau → DAX)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DA0E4-7211-C2BF-DEE8-AC8DE7321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Examples:</a:t>
            </a:r>
          </a:p>
          <a:p>
            <a:r>
              <a:rPr lang="en-US" dirty="0"/>
              <a:t>Tableau FIXED → DAX CALCULATE + ALL</a:t>
            </a:r>
          </a:p>
          <a:p>
            <a:r>
              <a:rPr lang="en-US" dirty="0"/>
              <a:t>Tableau IF → DAX SWITCH / IF</a:t>
            </a:r>
          </a:p>
          <a:p>
            <a:r>
              <a:rPr lang="en-US" dirty="0"/>
              <a:t>Tableau LOD → DAX context functions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985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8E227-EE2A-3741-91AE-2CD8364A8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95310-E7DC-378A-8EA5-9D768BE21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7. Rebuild Visuals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6D62F-F21A-5888-DEBD-0BB1984F8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recreate:</a:t>
            </a:r>
          </a:p>
          <a:p>
            <a:pPr lvl="1"/>
            <a:r>
              <a:rPr lang="en-US" dirty="0"/>
              <a:t>Charts</a:t>
            </a:r>
          </a:p>
          <a:p>
            <a:pPr lvl="1"/>
            <a:r>
              <a:rPr lang="en-US" dirty="0"/>
              <a:t>Layout</a:t>
            </a:r>
          </a:p>
          <a:p>
            <a:pPr lvl="1"/>
            <a:r>
              <a:rPr lang="en-US" dirty="0"/>
              <a:t>Colors (optional)</a:t>
            </a:r>
          </a:p>
          <a:p>
            <a:pPr lvl="1"/>
            <a:r>
              <a:rPr lang="en-US" dirty="0"/>
              <a:t>Interactions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595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DB8C9-2D84-AF2D-7C22-46F995C9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6B96D-5C49-C75F-C405-9CF3257AB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8. Validate Results (VERY IMPORTANT)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55398-956E-2E58-3FCE-DB1C958A2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Tableau numbers vs Power BI numbers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Filters behavior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Totals and subtotals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072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8DDCA-2F10-923A-3F3F-285731730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DECE5-9E4A-69D7-109C-2DF63877A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9. Optimize &amp; Enhance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38D3D-D573-F63D-BBBE-1BFCC27CC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improve:</a:t>
            </a:r>
          </a:p>
          <a:p>
            <a:pPr lvl="1"/>
            <a:r>
              <a:rPr lang="en-US" dirty="0"/>
              <a:t>Performance</a:t>
            </a:r>
          </a:p>
          <a:p>
            <a:pPr lvl="1"/>
            <a:r>
              <a:rPr lang="en-US" dirty="0"/>
              <a:t>UX (cards, tooltips, bookmarks)</a:t>
            </a:r>
          </a:p>
          <a:p>
            <a:pPr lvl="1"/>
            <a:r>
              <a:rPr lang="en-US" dirty="0"/>
              <a:t>Add extra insights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067304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1">
    <a:dk1>
      <a:sysClr val="windowText" lastClr="000000"/>
    </a:dk1>
    <a:lt1>
      <a:sysClr val="window" lastClr="FFFFFF"/>
    </a:lt1>
    <a:dk2>
      <a:srgbClr val="39302A"/>
    </a:dk2>
    <a:lt2>
      <a:srgbClr val="E5DEDB"/>
    </a:lt2>
    <a:accent1>
      <a:srgbClr val="F36826"/>
    </a:accent1>
    <a:accent2>
      <a:srgbClr val="FB8E09"/>
    </a:accent2>
    <a:accent3>
      <a:srgbClr val="D48B32"/>
    </a:accent3>
    <a:accent4>
      <a:srgbClr val="E64823"/>
    </a:accent4>
    <a:accent5>
      <a:srgbClr val="FFCA08"/>
    </a:accent5>
    <a:accent6>
      <a:srgbClr val="AF695B"/>
    </a:accent6>
    <a:hlink>
      <a:srgbClr val="2998E3"/>
    </a:hlink>
    <a:folHlink>
      <a:srgbClr val="7F723D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5B1FD9-3BB6-4DA9-A089-3B68C2323D4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747A963-53E0-44AF-AF13-963FE676C6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38A3B04-B0F3-4C12-A722-52B5CF6D97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{0772E1A3-BBB9-474A-AAC2-0B912B5374BC}TF427093bb-7ddc-497b-80f4-fe945bcee621ff7241c0_win32-add2936a5c77</Template>
  <TotalTime>842</TotalTime>
  <Words>1217</Words>
  <Application>Microsoft Office PowerPoint</Application>
  <PresentationFormat>Widescreen</PresentationFormat>
  <Paragraphs>261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Arial Black</vt:lpstr>
      <vt:lpstr>Bookman Old Style</vt:lpstr>
      <vt:lpstr>Calibri</vt:lpstr>
      <vt:lpstr>Franklin Gothic Book</vt:lpstr>
      <vt:lpstr>Wingdings</vt:lpstr>
      <vt:lpstr>1_RetrospectVTI</vt:lpstr>
      <vt:lpstr>PowerPoint Presentation</vt:lpstr>
      <vt:lpstr>Migration  from Tableau to POWER BI</vt:lpstr>
      <vt:lpstr>Migration  from Tableau to POWER BI</vt:lpstr>
      <vt:lpstr>PowerPoint Presentation</vt:lpstr>
      <vt:lpstr>Tableau → Power BI  Migration Strategy</vt:lpstr>
      <vt:lpstr>1. Understand the Business First (NOT the tool)</vt:lpstr>
      <vt:lpstr>PowerPoint Presentation</vt:lpstr>
      <vt:lpstr>Visual Mapping to PURPOSE</vt:lpstr>
      <vt:lpstr>Practical Approach (When Tableau File is Given)</vt:lpstr>
      <vt:lpstr>2. Analyze Tableau Dashboard (Front-End)</vt:lpstr>
      <vt:lpstr>PowerPoint Presentation</vt:lpstr>
      <vt:lpstr>PowerPoint Presentation</vt:lpstr>
      <vt:lpstr>PowerPoint Presentation</vt:lpstr>
      <vt:lpstr>3. Understand Dataset (MOST CRITICAL STEP) </vt:lpstr>
      <vt:lpstr>Tableau shows visuals But dataset defines truth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 Extract / Get Data from Tableau</vt:lpstr>
      <vt:lpstr>PowerPoint Presentation</vt:lpstr>
      <vt:lpstr>5. Data Modeling in Power BI</vt:lpstr>
      <vt:lpstr>PowerPoint Presentation</vt:lpstr>
      <vt:lpstr>6. Recreate Calculations (Tableau → DAX)</vt:lpstr>
      <vt:lpstr>7. Rebuild Visuals</vt:lpstr>
      <vt:lpstr>8. Validate Results (VERY IMPORTANT)</vt:lpstr>
      <vt:lpstr>9. Optimize &amp; Enhance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Harmeet Sehra</dc:creator>
  <cp:lastModifiedBy>Harmeet Sehra</cp:lastModifiedBy>
  <cp:revision>289</cp:revision>
  <dcterms:created xsi:type="dcterms:W3CDTF">2026-03-15T10:40:27Z</dcterms:created>
  <dcterms:modified xsi:type="dcterms:W3CDTF">2026-03-20T04:54:52Z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